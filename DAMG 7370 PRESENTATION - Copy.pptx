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6" r:id="rId2"/>
    <p:sldId id="257" r:id="rId3"/>
    <p:sldId id="277" r:id="rId4"/>
    <p:sldId id="278" r:id="rId5"/>
    <p:sldId id="261" r:id="rId6"/>
    <p:sldId id="262" r:id="rId7"/>
    <p:sldId id="266" r:id="rId8"/>
    <p:sldId id="264" r:id="rId9"/>
    <p:sldId id="263" r:id="rId10"/>
    <p:sldId id="289" r:id="rId11"/>
    <p:sldId id="290" r:id="rId12"/>
    <p:sldId id="265" r:id="rId13"/>
    <p:sldId id="279" r:id="rId14"/>
    <p:sldId id="267" r:id="rId15"/>
    <p:sldId id="268" r:id="rId16"/>
    <p:sldId id="271" r:id="rId17"/>
    <p:sldId id="272" r:id="rId18"/>
    <p:sldId id="275" r:id="rId19"/>
    <p:sldId id="280" r:id="rId20"/>
    <p:sldId id="281" r:id="rId21"/>
    <p:sldId id="273" r:id="rId22"/>
    <p:sldId id="276" r:id="rId23"/>
    <p:sldId id="282" r:id="rId24"/>
    <p:sldId id="286" r:id="rId25"/>
    <p:sldId id="285" r:id="rId26"/>
    <p:sldId id="284" r:id="rId27"/>
    <p:sldId id="283" r:id="rId28"/>
    <p:sldId id="287" r:id="rId29"/>
    <p:sldId id="288" r:id="rId30"/>
    <p:sldId id="291" r:id="rId31"/>
    <p:sldId id="292" r:id="rId32"/>
    <p:sldId id="274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A80488-41BC-15CA-8B6A-06F979F03310}" v="11" dt="2026-04-17T13:53:21.6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E3A53C-5D1F-42C6-8D51-7FF2594C5ED8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78761C-9184-45E0-B745-9EB0B002DC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Raw CSV files sit in folders</a:t>
          </a:r>
        </a:p>
      </dgm:t>
    </dgm:pt>
    <dgm:pt modelId="{0CBBEF36-1C39-4C05-94D9-F5303080B9E6}" type="parTrans" cxnId="{404C86D4-3187-4849-9129-E1BD65220F51}">
      <dgm:prSet/>
      <dgm:spPr/>
      <dgm:t>
        <a:bodyPr/>
        <a:lstStyle/>
        <a:p>
          <a:endParaRPr lang="en-US"/>
        </a:p>
      </dgm:t>
    </dgm:pt>
    <dgm:pt modelId="{5626CA62-9519-4C04-831B-784E0EC27823}" type="sibTrans" cxnId="{404C86D4-3187-4849-9129-E1BD65220F5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FE1C0F6-05B7-4364-B0F9-C20D99F032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Analysts manually download and process data</a:t>
          </a:r>
        </a:p>
      </dgm:t>
    </dgm:pt>
    <dgm:pt modelId="{E40BE58F-3654-4356-AC84-6E6B184F86E4}" type="parTrans" cxnId="{C974FE2E-261F-453C-AE01-640343D4C820}">
      <dgm:prSet/>
      <dgm:spPr/>
      <dgm:t>
        <a:bodyPr/>
        <a:lstStyle/>
        <a:p>
          <a:endParaRPr lang="en-US"/>
        </a:p>
      </dgm:t>
    </dgm:pt>
    <dgm:pt modelId="{37F1C127-5665-4145-B781-B8A396F589D4}" type="sibTrans" cxnId="{C974FE2E-261F-453C-AE01-640343D4C82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A3ECB1F-BE4C-439C-B1F8-D6191B409D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Decisions made on gut feel, not evidence</a:t>
          </a:r>
        </a:p>
      </dgm:t>
    </dgm:pt>
    <dgm:pt modelId="{9D6CEE00-DD6A-4FBD-9FC4-A0FA68400036}" type="parTrans" cxnId="{36DA6BF8-B4D5-4D2E-866F-759B8AA911A8}">
      <dgm:prSet/>
      <dgm:spPr/>
      <dgm:t>
        <a:bodyPr/>
        <a:lstStyle/>
        <a:p>
          <a:endParaRPr lang="en-US"/>
        </a:p>
      </dgm:t>
    </dgm:pt>
    <dgm:pt modelId="{5DA993D4-0FFB-4D88-BA1D-686D937A039B}" type="sibTrans" cxnId="{36DA6BF8-B4D5-4D2E-866F-759B8AA911A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8A8B92B-4E67-44ED-8A37-FB68DD4204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No way to detect fraud at scale</a:t>
          </a:r>
        </a:p>
      </dgm:t>
    </dgm:pt>
    <dgm:pt modelId="{BE963F1E-0164-4E70-BF88-E4C7EA6EAC5F}" type="parTrans" cxnId="{5D5E8E88-D4EA-4ECF-A147-EED4E273EA12}">
      <dgm:prSet/>
      <dgm:spPr/>
      <dgm:t>
        <a:bodyPr/>
        <a:lstStyle/>
        <a:p>
          <a:endParaRPr lang="en-US"/>
        </a:p>
      </dgm:t>
    </dgm:pt>
    <dgm:pt modelId="{E03A93EA-987F-410B-ADBE-78E61766E9C8}" type="sibTrans" cxnId="{5D5E8E88-D4EA-4ECF-A147-EED4E273EA1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9D8AED4-3B9F-4838-AF9C-645B784B11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No visibility into customer risk</a:t>
          </a:r>
        </a:p>
      </dgm:t>
    </dgm:pt>
    <dgm:pt modelId="{6B89BE52-C8AA-47D9-B64E-56967937CB1A}" type="parTrans" cxnId="{4A8A6659-D093-487F-8AAA-6129984A94F2}">
      <dgm:prSet/>
      <dgm:spPr/>
      <dgm:t>
        <a:bodyPr/>
        <a:lstStyle/>
        <a:p>
          <a:endParaRPr lang="en-US"/>
        </a:p>
      </dgm:t>
    </dgm:pt>
    <dgm:pt modelId="{78025C41-4FBA-4732-8A93-44644B4CC9FD}" type="sibTrans" cxnId="{4A8A6659-D093-487F-8AAA-6129984A94F2}">
      <dgm:prSet/>
      <dgm:spPr/>
      <dgm:t>
        <a:bodyPr/>
        <a:lstStyle/>
        <a:p>
          <a:endParaRPr lang="en-US"/>
        </a:p>
      </dgm:t>
    </dgm:pt>
    <dgm:pt modelId="{D60B57CF-3F49-46BB-83B7-F1F7116FA540}" type="pres">
      <dgm:prSet presAssocID="{F5E3A53C-5D1F-42C6-8D51-7FF2594C5ED8}" presName="root" presStyleCnt="0">
        <dgm:presLayoutVars>
          <dgm:dir/>
          <dgm:resizeHandles val="exact"/>
        </dgm:presLayoutVars>
      </dgm:prSet>
      <dgm:spPr/>
    </dgm:pt>
    <dgm:pt modelId="{A5FDB5D3-266E-49CE-AEF0-89E02AA64DB4}" type="pres">
      <dgm:prSet presAssocID="{F5E3A53C-5D1F-42C6-8D51-7FF2594C5ED8}" presName="container" presStyleCnt="0">
        <dgm:presLayoutVars>
          <dgm:dir/>
          <dgm:resizeHandles val="exact"/>
        </dgm:presLayoutVars>
      </dgm:prSet>
      <dgm:spPr/>
    </dgm:pt>
    <dgm:pt modelId="{C232F518-A3FC-44C0-BB7B-07863037C8D5}" type="pres">
      <dgm:prSet presAssocID="{8678761C-9184-45E0-B745-9EB0B002DC56}" presName="compNode" presStyleCnt="0"/>
      <dgm:spPr/>
    </dgm:pt>
    <dgm:pt modelId="{226042FC-4D22-4658-9BB9-4BA36F481DF0}" type="pres">
      <dgm:prSet presAssocID="{8678761C-9184-45E0-B745-9EB0B002DC56}" presName="iconBgRect" presStyleLbl="bgShp" presStyleIdx="0" presStyleCnt="5"/>
      <dgm:spPr/>
    </dgm:pt>
    <dgm:pt modelId="{88EE15FB-EF82-41DC-8C03-5A8AD0C45A24}" type="pres">
      <dgm:prSet presAssocID="{8678761C-9184-45E0-B745-9EB0B002DC56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7349325A-B643-4F3C-A9EF-8F486891F1A4}" type="pres">
      <dgm:prSet presAssocID="{8678761C-9184-45E0-B745-9EB0B002DC56}" presName="spaceRect" presStyleCnt="0"/>
      <dgm:spPr/>
    </dgm:pt>
    <dgm:pt modelId="{574910AD-78E3-4B08-973F-3310D6DD5478}" type="pres">
      <dgm:prSet presAssocID="{8678761C-9184-45E0-B745-9EB0B002DC56}" presName="textRect" presStyleLbl="revTx" presStyleIdx="0" presStyleCnt="5">
        <dgm:presLayoutVars>
          <dgm:chMax val="1"/>
          <dgm:chPref val="1"/>
        </dgm:presLayoutVars>
      </dgm:prSet>
      <dgm:spPr/>
    </dgm:pt>
    <dgm:pt modelId="{366408A7-A902-4371-8284-D9B67E2756E0}" type="pres">
      <dgm:prSet presAssocID="{5626CA62-9519-4C04-831B-784E0EC27823}" presName="sibTrans" presStyleLbl="sibTrans2D1" presStyleIdx="0" presStyleCnt="0"/>
      <dgm:spPr/>
    </dgm:pt>
    <dgm:pt modelId="{FE0D6353-0079-4999-B509-8BF5CA705F76}" type="pres">
      <dgm:prSet presAssocID="{0FE1C0F6-05B7-4364-B0F9-C20D99F0322A}" presName="compNode" presStyleCnt="0"/>
      <dgm:spPr/>
    </dgm:pt>
    <dgm:pt modelId="{41C5A644-1E32-4D4D-BA50-C9E6BA1F2F02}" type="pres">
      <dgm:prSet presAssocID="{0FE1C0F6-05B7-4364-B0F9-C20D99F0322A}" presName="iconBgRect" presStyleLbl="bgShp" presStyleIdx="1" presStyleCnt="5"/>
      <dgm:spPr/>
    </dgm:pt>
    <dgm:pt modelId="{AD35372C-7C2F-4250-B190-E89E172BC2EB}" type="pres">
      <dgm:prSet presAssocID="{0FE1C0F6-05B7-4364-B0F9-C20D99F0322A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7CA6B333-EE25-4092-9AA4-900D58104977}" type="pres">
      <dgm:prSet presAssocID="{0FE1C0F6-05B7-4364-B0F9-C20D99F0322A}" presName="spaceRect" presStyleCnt="0"/>
      <dgm:spPr/>
    </dgm:pt>
    <dgm:pt modelId="{E96105B4-6179-46C8-B1FE-07F1A1FBFA71}" type="pres">
      <dgm:prSet presAssocID="{0FE1C0F6-05B7-4364-B0F9-C20D99F0322A}" presName="textRect" presStyleLbl="revTx" presStyleIdx="1" presStyleCnt="5">
        <dgm:presLayoutVars>
          <dgm:chMax val="1"/>
          <dgm:chPref val="1"/>
        </dgm:presLayoutVars>
      </dgm:prSet>
      <dgm:spPr/>
    </dgm:pt>
    <dgm:pt modelId="{5EA1844C-5BA6-46F2-80CC-4E7C65CBA651}" type="pres">
      <dgm:prSet presAssocID="{37F1C127-5665-4145-B781-B8A396F589D4}" presName="sibTrans" presStyleLbl="sibTrans2D1" presStyleIdx="0" presStyleCnt="0"/>
      <dgm:spPr/>
    </dgm:pt>
    <dgm:pt modelId="{6FCADCD8-6FFE-4DF4-BD70-1EB74D5167B1}" type="pres">
      <dgm:prSet presAssocID="{0A3ECB1F-BE4C-439C-B1F8-D6191B409DC1}" presName="compNode" presStyleCnt="0"/>
      <dgm:spPr/>
    </dgm:pt>
    <dgm:pt modelId="{EA421001-6F07-4FED-A2CC-51917B7343F3}" type="pres">
      <dgm:prSet presAssocID="{0A3ECB1F-BE4C-439C-B1F8-D6191B409DC1}" presName="iconBgRect" presStyleLbl="bgShp" presStyleIdx="2" presStyleCnt="5"/>
      <dgm:spPr/>
    </dgm:pt>
    <dgm:pt modelId="{E0741AF4-C74E-420F-A854-8382FB3AD4D5}" type="pres">
      <dgm:prSet presAssocID="{0A3ECB1F-BE4C-439C-B1F8-D6191B409DC1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1746768-179C-4629-B1BB-4CE396FD7C34}" type="pres">
      <dgm:prSet presAssocID="{0A3ECB1F-BE4C-439C-B1F8-D6191B409DC1}" presName="spaceRect" presStyleCnt="0"/>
      <dgm:spPr/>
    </dgm:pt>
    <dgm:pt modelId="{089FDFDF-4C8D-43F3-8948-48436F4B970D}" type="pres">
      <dgm:prSet presAssocID="{0A3ECB1F-BE4C-439C-B1F8-D6191B409DC1}" presName="textRect" presStyleLbl="revTx" presStyleIdx="2" presStyleCnt="5">
        <dgm:presLayoutVars>
          <dgm:chMax val="1"/>
          <dgm:chPref val="1"/>
        </dgm:presLayoutVars>
      </dgm:prSet>
      <dgm:spPr/>
    </dgm:pt>
    <dgm:pt modelId="{CCDE855C-02E5-44A6-8DDA-071D22A51B2D}" type="pres">
      <dgm:prSet presAssocID="{5DA993D4-0FFB-4D88-BA1D-686D937A039B}" presName="sibTrans" presStyleLbl="sibTrans2D1" presStyleIdx="0" presStyleCnt="0"/>
      <dgm:spPr/>
    </dgm:pt>
    <dgm:pt modelId="{9007D02E-5928-42D7-80FE-538EABB69CF9}" type="pres">
      <dgm:prSet presAssocID="{38A8B92B-4E67-44ED-8A37-FB68DD4204B6}" presName="compNode" presStyleCnt="0"/>
      <dgm:spPr/>
    </dgm:pt>
    <dgm:pt modelId="{CD34A649-D974-4E1F-ABC7-FBEE88AE038E}" type="pres">
      <dgm:prSet presAssocID="{38A8B92B-4E67-44ED-8A37-FB68DD4204B6}" presName="iconBgRect" presStyleLbl="bgShp" presStyleIdx="3" presStyleCnt="5"/>
      <dgm:spPr/>
    </dgm:pt>
    <dgm:pt modelId="{691D497A-40CA-4CD4-996D-A966B2334A53}" type="pres">
      <dgm:prSet presAssocID="{38A8B92B-4E67-44ED-8A37-FB68DD4204B6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A3E97117-9994-461F-A09B-2B939DA46E09}" type="pres">
      <dgm:prSet presAssocID="{38A8B92B-4E67-44ED-8A37-FB68DD4204B6}" presName="spaceRect" presStyleCnt="0"/>
      <dgm:spPr/>
    </dgm:pt>
    <dgm:pt modelId="{4ED07EF8-D0DC-471E-90E3-5DE4F7A02032}" type="pres">
      <dgm:prSet presAssocID="{38A8B92B-4E67-44ED-8A37-FB68DD4204B6}" presName="textRect" presStyleLbl="revTx" presStyleIdx="3" presStyleCnt="5">
        <dgm:presLayoutVars>
          <dgm:chMax val="1"/>
          <dgm:chPref val="1"/>
        </dgm:presLayoutVars>
      </dgm:prSet>
      <dgm:spPr/>
    </dgm:pt>
    <dgm:pt modelId="{4E3F2C81-9526-4C2E-B4D7-3583AFE80A97}" type="pres">
      <dgm:prSet presAssocID="{E03A93EA-987F-410B-ADBE-78E61766E9C8}" presName="sibTrans" presStyleLbl="sibTrans2D1" presStyleIdx="0" presStyleCnt="0"/>
      <dgm:spPr/>
    </dgm:pt>
    <dgm:pt modelId="{CB0C4F51-F8E3-4933-A23C-436CFC9EA514}" type="pres">
      <dgm:prSet presAssocID="{19D8AED4-3B9F-4838-AF9C-645B784B1198}" presName="compNode" presStyleCnt="0"/>
      <dgm:spPr/>
    </dgm:pt>
    <dgm:pt modelId="{8A2AAF52-692C-45B7-A46C-8CE93B25943D}" type="pres">
      <dgm:prSet presAssocID="{19D8AED4-3B9F-4838-AF9C-645B784B1198}" presName="iconBgRect" presStyleLbl="bgShp" presStyleIdx="4" presStyleCnt="5"/>
      <dgm:spPr/>
    </dgm:pt>
    <dgm:pt modelId="{602147E0-E698-4F69-A292-125F2F63F1FB}" type="pres">
      <dgm:prSet presAssocID="{19D8AED4-3B9F-4838-AF9C-645B784B1198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CECB6DB1-76B0-40FF-9EDC-D49358E13B09}" type="pres">
      <dgm:prSet presAssocID="{19D8AED4-3B9F-4838-AF9C-645B784B1198}" presName="spaceRect" presStyleCnt="0"/>
      <dgm:spPr/>
    </dgm:pt>
    <dgm:pt modelId="{AC8B58F5-4B95-4A2E-8FB1-202529F80DC4}" type="pres">
      <dgm:prSet presAssocID="{19D8AED4-3B9F-4838-AF9C-645B784B1198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B0C1221-9FC1-493C-A5F1-F4274C2F41A3}" type="presOf" srcId="{5626CA62-9519-4C04-831B-784E0EC27823}" destId="{366408A7-A902-4371-8284-D9B67E2756E0}" srcOrd="0" destOrd="0" presId="urn:microsoft.com/office/officeart/2018/2/layout/IconCircleList"/>
    <dgm:cxn modelId="{41968F27-E39E-4FF1-98FD-1114AD0440F6}" type="presOf" srcId="{8678761C-9184-45E0-B745-9EB0B002DC56}" destId="{574910AD-78E3-4B08-973F-3310D6DD5478}" srcOrd="0" destOrd="0" presId="urn:microsoft.com/office/officeart/2018/2/layout/IconCircleList"/>
    <dgm:cxn modelId="{C974FE2E-261F-453C-AE01-640343D4C820}" srcId="{F5E3A53C-5D1F-42C6-8D51-7FF2594C5ED8}" destId="{0FE1C0F6-05B7-4364-B0F9-C20D99F0322A}" srcOrd="1" destOrd="0" parTransId="{E40BE58F-3654-4356-AC84-6E6B184F86E4}" sibTransId="{37F1C127-5665-4145-B781-B8A396F589D4}"/>
    <dgm:cxn modelId="{C30A3630-DE00-49C4-878E-90698B94B243}" type="presOf" srcId="{0FE1C0F6-05B7-4364-B0F9-C20D99F0322A}" destId="{E96105B4-6179-46C8-B1FE-07F1A1FBFA71}" srcOrd="0" destOrd="0" presId="urn:microsoft.com/office/officeart/2018/2/layout/IconCircleList"/>
    <dgm:cxn modelId="{12CF0C6E-A4D1-4520-BC08-A4EDC361DC5D}" type="presOf" srcId="{37F1C127-5665-4145-B781-B8A396F589D4}" destId="{5EA1844C-5BA6-46F2-80CC-4E7C65CBA651}" srcOrd="0" destOrd="0" presId="urn:microsoft.com/office/officeart/2018/2/layout/IconCircleList"/>
    <dgm:cxn modelId="{DB3D1178-E309-4B4A-88C4-A25A4C96EEB9}" type="presOf" srcId="{E03A93EA-987F-410B-ADBE-78E61766E9C8}" destId="{4E3F2C81-9526-4C2E-B4D7-3583AFE80A97}" srcOrd="0" destOrd="0" presId="urn:microsoft.com/office/officeart/2018/2/layout/IconCircleList"/>
    <dgm:cxn modelId="{4A8A6659-D093-487F-8AAA-6129984A94F2}" srcId="{F5E3A53C-5D1F-42C6-8D51-7FF2594C5ED8}" destId="{19D8AED4-3B9F-4838-AF9C-645B784B1198}" srcOrd="4" destOrd="0" parTransId="{6B89BE52-C8AA-47D9-B64E-56967937CB1A}" sibTransId="{78025C41-4FBA-4732-8A93-44644B4CC9FD}"/>
    <dgm:cxn modelId="{5D5E8E88-D4EA-4ECF-A147-EED4E273EA12}" srcId="{F5E3A53C-5D1F-42C6-8D51-7FF2594C5ED8}" destId="{38A8B92B-4E67-44ED-8A37-FB68DD4204B6}" srcOrd="3" destOrd="0" parTransId="{BE963F1E-0164-4E70-BF88-E4C7EA6EAC5F}" sibTransId="{E03A93EA-987F-410B-ADBE-78E61766E9C8}"/>
    <dgm:cxn modelId="{C61DE591-0488-4482-9140-7C7965108596}" type="presOf" srcId="{F5E3A53C-5D1F-42C6-8D51-7FF2594C5ED8}" destId="{D60B57CF-3F49-46BB-83B7-F1F7116FA540}" srcOrd="0" destOrd="0" presId="urn:microsoft.com/office/officeart/2018/2/layout/IconCircleList"/>
    <dgm:cxn modelId="{0401EB93-1306-4D04-8AD2-DB35A182C7BC}" type="presOf" srcId="{19D8AED4-3B9F-4838-AF9C-645B784B1198}" destId="{AC8B58F5-4B95-4A2E-8FB1-202529F80DC4}" srcOrd="0" destOrd="0" presId="urn:microsoft.com/office/officeart/2018/2/layout/IconCircleList"/>
    <dgm:cxn modelId="{0C29769E-52E3-42C5-BB12-54ACD7C1CF54}" type="presOf" srcId="{5DA993D4-0FFB-4D88-BA1D-686D937A039B}" destId="{CCDE855C-02E5-44A6-8DDA-071D22A51B2D}" srcOrd="0" destOrd="0" presId="urn:microsoft.com/office/officeart/2018/2/layout/IconCircleList"/>
    <dgm:cxn modelId="{404C86D4-3187-4849-9129-E1BD65220F51}" srcId="{F5E3A53C-5D1F-42C6-8D51-7FF2594C5ED8}" destId="{8678761C-9184-45E0-B745-9EB0B002DC56}" srcOrd="0" destOrd="0" parTransId="{0CBBEF36-1C39-4C05-94D9-F5303080B9E6}" sibTransId="{5626CA62-9519-4C04-831B-784E0EC27823}"/>
    <dgm:cxn modelId="{8D8B03DB-5DEB-47EA-9030-1E63E837947A}" type="presOf" srcId="{0A3ECB1F-BE4C-439C-B1F8-D6191B409DC1}" destId="{089FDFDF-4C8D-43F3-8948-48436F4B970D}" srcOrd="0" destOrd="0" presId="urn:microsoft.com/office/officeart/2018/2/layout/IconCircleList"/>
    <dgm:cxn modelId="{36DA6BF8-B4D5-4D2E-866F-759B8AA911A8}" srcId="{F5E3A53C-5D1F-42C6-8D51-7FF2594C5ED8}" destId="{0A3ECB1F-BE4C-439C-B1F8-D6191B409DC1}" srcOrd="2" destOrd="0" parTransId="{9D6CEE00-DD6A-4FBD-9FC4-A0FA68400036}" sibTransId="{5DA993D4-0FFB-4D88-BA1D-686D937A039B}"/>
    <dgm:cxn modelId="{0414CDF9-69F4-4888-961C-06FD0EA8A873}" type="presOf" srcId="{38A8B92B-4E67-44ED-8A37-FB68DD4204B6}" destId="{4ED07EF8-D0DC-471E-90E3-5DE4F7A02032}" srcOrd="0" destOrd="0" presId="urn:microsoft.com/office/officeart/2018/2/layout/IconCircleList"/>
    <dgm:cxn modelId="{A7763793-E5E1-4CEA-99CF-5BB1B8152DAD}" type="presParOf" srcId="{D60B57CF-3F49-46BB-83B7-F1F7116FA540}" destId="{A5FDB5D3-266E-49CE-AEF0-89E02AA64DB4}" srcOrd="0" destOrd="0" presId="urn:microsoft.com/office/officeart/2018/2/layout/IconCircleList"/>
    <dgm:cxn modelId="{804C433C-82E2-4738-BB3E-A23FAB43B065}" type="presParOf" srcId="{A5FDB5D3-266E-49CE-AEF0-89E02AA64DB4}" destId="{C232F518-A3FC-44C0-BB7B-07863037C8D5}" srcOrd="0" destOrd="0" presId="urn:microsoft.com/office/officeart/2018/2/layout/IconCircleList"/>
    <dgm:cxn modelId="{593F5D14-EB28-4AA9-8839-D0717A0E97C2}" type="presParOf" srcId="{C232F518-A3FC-44C0-BB7B-07863037C8D5}" destId="{226042FC-4D22-4658-9BB9-4BA36F481DF0}" srcOrd="0" destOrd="0" presId="urn:microsoft.com/office/officeart/2018/2/layout/IconCircleList"/>
    <dgm:cxn modelId="{0705653D-523F-4155-9341-39020F1CB8D4}" type="presParOf" srcId="{C232F518-A3FC-44C0-BB7B-07863037C8D5}" destId="{88EE15FB-EF82-41DC-8C03-5A8AD0C45A24}" srcOrd="1" destOrd="0" presId="urn:microsoft.com/office/officeart/2018/2/layout/IconCircleList"/>
    <dgm:cxn modelId="{B028485D-2AAD-43B2-BFE3-6FD11CE49745}" type="presParOf" srcId="{C232F518-A3FC-44C0-BB7B-07863037C8D5}" destId="{7349325A-B643-4F3C-A9EF-8F486891F1A4}" srcOrd="2" destOrd="0" presId="urn:microsoft.com/office/officeart/2018/2/layout/IconCircleList"/>
    <dgm:cxn modelId="{CEC6E32B-0E1B-43ED-8E6E-B928B72B556A}" type="presParOf" srcId="{C232F518-A3FC-44C0-BB7B-07863037C8D5}" destId="{574910AD-78E3-4B08-973F-3310D6DD5478}" srcOrd="3" destOrd="0" presId="urn:microsoft.com/office/officeart/2018/2/layout/IconCircleList"/>
    <dgm:cxn modelId="{99795A92-B522-409D-81C4-25956A661A39}" type="presParOf" srcId="{A5FDB5D3-266E-49CE-AEF0-89E02AA64DB4}" destId="{366408A7-A902-4371-8284-D9B67E2756E0}" srcOrd="1" destOrd="0" presId="urn:microsoft.com/office/officeart/2018/2/layout/IconCircleList"/>
    <dgm:cxn modelId="{70CDBE95-0883-4286-8D70-4064A857BA33}" type="presParOf" srcId="{A5FDB5D3-266E-49CE-AEF0-89E02AA64DB4}" destId="{FE0D6353-0079-4999-B509-8BF5CA705F76}" srcOrd="2" destOrd="0" presId="urn:microsoft.com/office/officeart/2018/2/layout/IconCircleList"/>
    <dgm:cxn modelId="{DFD92B6E-F5FE-45FC-9B2D-ED43AE7698CF}" type="presParOf" srcId="{FE0D6353-0079-4999-B509-8BF5CA705F76}" destId="{41C5A644-1E32-4D4D-BA50-C9E6BA1F2F02}" srcOrd="0" destOrd="0" presId="urn:microsoft.com/office/officeart/2018/2/layout/IconCircleList"/>
    <dgm:cxn modelId="{7B858FF8-74FA-40AE-8F2F-5BA59557895D}" type="presParOf" srcId="{FE0D6353-0079-4999-B509-8BF5CA705F76}" destId="{AD35372C-7C2F-4250-B190-E89E172BC2EB}" srcOrd="1" destOrd="0" presId="urn:microsoft.com/office/officeart/2018/2/layout/IconCircleList"/>
    <dgm:cxn modelId="{6D962B43-5201-479A-BDA3-08B68CF9A7A3}" type="presParOf" srcId="{FE0D6353-0079-4999-B509-8BF5CA705F76}" destId="{7CA6B333-EE25-4092-9AA4-900D58104977}" srcOrd="2" destOrd="0" presId="urn:microsoft.com/office/officeart/2018/2/layout/IconCircleList"/>
    <dgm:cxn modelId="{6396AC3C-AEEB-4BE8-9B3B-7F2E988D73BF}" type="presParOf" srcId="{FE0D6353-0079-4999-B509-8BF5CA705F76}" destId="{E96105B4-6179-46C8-B1FE-07F1A1FBFA71}" srcOrd="3" destOrd="0" presId="urn:microsoft.com/office/officeart/2018/2/layout/IconCircleList"/>
    <dgm:cxn modelId="{0615114F-DB5E-4B98-9187-706C6E633288}" type="presParOf" srcId="{A5FDB5D3-266E-49CE-AEF0-89E02AA64DB4}" destId="{5EA1844C-5BA6-46F2-80CC-4E7C65CBA651}" srcOrd="3" destOrd="0" presId="urn:microsoft.com/office/officeart/2018/2/layout/IconCircleList"/>
    <dgm:cxn modelId="{A18503ED-CA57-4FE0-924D-6FDFB9687719}" type="presParOf" srcId="{A5FDB5D3-266E-49CE-AEF0-89E02AA64DB4}" destId="{6FCADCD8-6FFE-4DF4-BD70-1EB74D5167B1}" srcOrd="4" destOrd="0" presId="urn:microsoft.com/office/officeart/2018/2/layout/IconCircleList"/>
    <dgm:cxn modelId="{5EF5D4E4-2718-4DCD-9DE2-470F1A42F70D}" type="presParOf" srcId="{6FCADCD8-6FFE-4DF4-BD70-1EB74D5167B1}" destId="{EA421001-6F07-4FED-A2CC-51917B7343F3}" srcOrd="0" destOrd="0" presId="urn:microsoft.com/office/officeart/2018/2/layout/IconCircleList"/>
    <dgm:cxn modelId="{E9A4C66B-2016-4425-9A99-D7E3C52D8AE4}" type="presParOf" srcId="{6FCADCD8-6FFE-4DF4-BD70-1EB74D5167B1}" destId="{E0741AF4-C74E-420F-A854-8382FB3AD4D5}" srcOrd="1" destOrd="0" presId="urn:microsoft.com/office/officeart/2018/2/layout/IconCircleList"/>
    <dgm:cxn modelId="{B96C1167-C722-4DC5-A7D8-917F85F819A9}" type="presParOf" srcId="{6FCADCD8-6FFE-4DF4-BD70-1EB74D5167B1}" destId="{31746768-179C-4629-B1BB-4CE396FD7C34}" srcOrd="2" destOrd="0" presId="urn:microsoft.com/office/officeart/2018/2/layout/IconCircleList"/>
    <dgm:cxn modelId="{861C1769-42C5-4238-BC1A-A4361F3C2E20}" type="presParOf" srcId="{6FCADCD8-6FFE-4DF4-BD70-1EB74D5167B1}" destId="{089FDFDF-4C8D-43F3-8948-48436F4B970D}" srcOrd="3" destOrd="0" presId="urn:microsoft.com/office/officeart/2018/2/layout/IconCircleList"/>
    <dgm:cxn modelId="{CD45F377-841E-44A8-A6B2-2C235F2BB9F9}" type="presParOf" srcId="{A5FDB5D3-266E-49CE-AEF0-89E02AA64DB4}" destId="{CCDE855C-02E5-44A6-8DDA-071D22A51B2D}" srcOrd="5" destOrd="0" presId="urn:microsoft.com/office/officeart/2018/2/layout/IconCircleList"/>
    <dgm:cxn modelId="{51CE38DD-0504-412E-9B86-41D8B083D873}" type="presParOf" srcId="{A5FDB5D3-266E-49CE-AEF0-89E02AA64DB4}" destId="{9007D02E-5928-42D7-80FE-538EABB69CF9}" srcOrd="6" destOrd="0" presId="urn:microsoft.com/office/officeart/2018/2/layout/IconCircleList"/>
    <dgm:cxn modelId="{20C13722-0EE1-450E-ADFA-147BD1B2F864}" type="presParOf" srcId="{9007D02E-5928-42D7-80FE-538EABB69CF9}" destId="{CD34A649-D974-4E1F-ABC7-FBEE88AE038E}" srcOrd="0" destOrd="0" presId="urn:microsoft.com/office/officeart/2018/2/layout/IconCircleList"/>
    <dgm:cxn modelId="{C997FDC2-8B2B-451A-BF76-3A718D26BD60}" type="presParOf" srcId="{9007D02E-5928-42D7-80FE-538EABB69CF9}" destId="{691D497A-40CA-4CD4-996D-A966B2334A53}" srcOrd="1" destOrd="0" presId="urn:microsoft.com/office/officeart/2018/2/layout/IconCircleList"/>
    <dgm:cxn modelId="{9BE9C117-D318-419B-A527-31DA02DD8686}" type="presParOf" srcId="{9007D02E-5928-42D7-80FE-538EABB69CF9}" destId="{A3E97117-9994-461F-A09B-2B939DA46E09}" srcOrd="2" destOrd="0" presId="urn:microsoft.com/office/officeart/2018/2/layout/IconCircleList"/>
    <dgm:cxn modelId="{7967A75F-0D7B-4CEA-98A2-D0ED37BCBF40}" type="presParOf" srcId="{9007D02E-5928-42D7-80FE-538EABB69CF9}" destId="{4ED07EF8-D0DC-471E-90E3-5DE4F7A02032}" srcOrd="3" destOrd="0" presId="urn:microsoft.com/office/officeart/2018/2/layout/IconCircleList"/>
    <dgm:cxn modelId="{9589072F-6996-4F6B-AF03-2C2972C62507}" type="presParOf" srcId="{A5FDB5D3-266E-49CE-AEF0-89E02AA64DB4}" destId="{4E3F2C81-9526-4C2E-B4D7-3583AFE80A97}" srcOrd="7" destOrd="0" presId="urn:microsoft.com/office/officeart/2018/2/layout/IconCircleList"/>
    <dgm:cxn modelId="{7992891C-55BD-4B40-9606-AC3CB370A231}" type="presParOf" srcId="{A5FDB5D3-266E-49CE-AEF0-89E02AA64DB4}" destId="{CB0C4F51-F8E3-4933-A23C-436CFC9EA514}" srcOrd="8" destOrd="0" presId="urn:microsoft.com/office/officeart/2018/2/layout/IconCircleList"/>
    <dgm:cxn modelId="{5737F987-B6BC-4512-A331-AFBF879EDD3F}" type="presParOf" srcId="{CB0C4F51-F8E3-4933-A23C-436CFC9EA514}" destId="{8A2AAF52-692C-45B7-A46C-8CE93B25943D}" srcOrd="0" destOrd="0" presId="urn:microsoft.com/office/officeart/2018/2/layout/IconCircleList"/>
    <dgm:cxn modelId="{C651E6DF-9536-4953-988A-E7CBE51E08AE}" type="presParOf" srcId="{CB0C4F51-F8E3-4933-A23C-436CFC9EA514}" destId="{602147E0-E698-4F69-A292-125F2F63F1FB}" srcOrd="1" destOrd="0" presId="urn:microsoft.com/office/officeart/2018/2/layout/IconCircleList"/>
    <dgm:cxn modelId="{FFBCF217-E45A-4356-B499-1600A0EA8E48}" type="presParOf" srcId="{CB0C4F51-F8E3-4933-A23C-436CFC9EA514}" destId="{CECB6DB1-76B0-40FF-9EDC-D49358E13B09}" srcOrd="2" destOrd="0" presId="urn:microsoft.com/office/officeart/2018/2/layout/IconCircleList"/>
    <dgm:cxn modelId="{EC51FC51-8BD7-4C2A-9F99-ED009477A59F}" type="presParOf" srcId="{CB0C4F51-F8E3-4933-A23C-436CFC9EA514}" destId="{AC8B58F5-4B95-4A2E-8FB1-202529F80DC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6042FC-4D22-4658-9BB9-4BA36F481DF0}">
      <dsp:nvSpPr>
        <dsp:cNvPr id="0" name=""/>
        <dsp:cNvSpPr/>
      </dsp:nvSpPr>
      <dsp:spPr>
        <a:xfrm>
          <a:off x="18926" y="188570"/>
          <a:ext cx="684895" cy="68489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EE15FB-EF82-41DC-8C03-5A8AD0C45A24}">
      <dsp:nvSpPr>
        <dsp:cNvPr id="0" name=""/>
        <dsp:cNvSpPr/>
      </dsp:nvSpPr>
      <dsp:spPr>
        <a:xfrm>
          <a:off x="162754" y="332398"/>
          <a:ext cx="397239" cy="3972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4910AD-78E3-4B08-973F-3310D6DD5478}">
      <dsp:nvSpPr>
        <dsp:cNvPr id="0" name=""/>
        <dsp:cNvSpPr/>
      </dsp:nvSpPr>
      <dsp:spPr>
        <a:xfrm>
          <a:off x="850585" y="188570"/>
          <a:ext cx="1614396" cy="684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Raw CSV files sit in folders</a:t>
          </a:r>
        </a:p>
      </dsp:txBody>
      <dsp:txXfrm>
        <a:off x="850585" y="188570"/>
        <a:ext cx="1614396" cy="684895"/>
      </dsp:txXfrm>
    </dsp:sp>
    <dsp:sp modelId="{41C5A644-1E32-4D4D-BA50-C9E6BA1F2F02}">
      <dsp:nvSpPr>
        <dsp:cNvPr id="0" name=""/>
        <dsp:cNvSpPr/>
      </dsp:nvSpPr>
      <dsp:spPr>
        <a:xfrm>
          <a:off x="2746278" y="188570"/>
          <a:ext cx="684895" cy="68489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35372C-7C2F-4250-B190-E89E172BC2EB}">
      <dsp:nvSpPr>
        <dsp:cNvPr id="0" name=""/>
        <dsp:cNvSpPr/>
      </dsp:nvSpPr>
      <dsp:spPr>
        <a:xfrm>
          <a:off x="2890106" y="332398"/>
          <a:ext cx="397239" cy="3972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6105B4-6179-46C8-B1FE-07F1A1FBFA71}">
      <dsp:nvSpPr>
        <dsp:cNvPr id="0" name=""/>
        <dsp:cNvSpPr/>
      </dsp:nvSpPr>
      <dsp:spPr>
        <a:xfrm>
          <a:off x="3577937" y="188570"/>
          <a:ext cx="1614396" cy="684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Analysts manually download and process data</a:t>
          </a:r>
        </a:p>
      </dsp:txBody>
      <dsp:txXfrm>
        <a:off x="3577937" y="188570"/>
        <a:ext cx="1614396" cy="684895"/>
      </dsp:txXfrm>
    </dsp:sp>
    <dsp:sp modelId="{EA421001-6F07-4FED-A2CC-51917B7343F3}">
      <dsp:nvSpPr>
        <dsp:cNvPr id="0" name=""/>
        <dsp:cNvSpPr/>
      </dsp:nvSpPr>
      <dsp:spPr>
        <a:xfrm>
          <a:off x="18926" y="1499845"/>
          <a:ext cx="684895" cy="68489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741AF4-C74E-420F-A854-8382FB3AD4D5}">
      <dsp:nvSpPr>
        <dsp:cNvPr id="0" name=""/>
        <dsp:cNvSpPr/>
      </dsp:nvSpPr>
      <dsp:spPr>
        <a:xfrm>
          <a:off x="162754" y="1643673"/>
          <a:ext cx="397239" cy="3972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9FDFDF-4C8D-43F3-8948-48436F4B970D}">
      <dsp:nvSpPr>
        <dsp:cNvPr id="0" name=""/>
        <dsp:cNvSpPr/>
      </dsp:nvSpPr>
      <dsp:spPr>
        <a:xfrm>
          <a:off x="850585" y="1499845"/>
          <a:ext cx="1614396" cy="684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Decisions made on gut feel, not evidence</a:t>
          </a:r>
        </a:p>
      </dsp:txBody>
      <dsp:txXfrm>
        <a:off x="850585" y="1499845"/>
        <a:ext cx="1614396" cy="684895"/>
      </dsp:txXfrm>
    </dsp:sp>
    <dsp:sp modelId="{CD34A649-D974-4E1F-ABC7-FBEE88AE038E}">
      <dsp:nvSpPr>
        <dsp:cNvPr id="0" name=""/>
        <dsp:cNvSpPr/>
      </dsp:nvSpPr>
      <dsp:spPr>
        <a:xfrm>
          <a:off x="2746278" y="1499845"/>
          <a:ext cx="684895" cy="68489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1D497A-40CA-4CD4-996D-A966B2334A53}">
      <dsp:nvSpPr>
        <dsp:cNvPr id="0" name=""/>
        <dsp:cNvSpPr/>
      </dsp:nvSpPr>
      <dsp:spPr>
        <a:xfrm>
          <a:off x="2890106" y="1643673"/>
          <a:ext cx="397239" cy="3972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D07EF8-D0DC-471E-90E3-5DE4F7A02032}">
      <dsp:nvSpPr>
        <dsp:cNvPr id="0" name=""/>
        <dsp:cNvSpPr/>
      </dsp:nvSpPr>
      <dsp:spPr>
        <a:xfrm>
          <a:off x="3577937" y="1499845"/>
          <a:ext cx="1614396" cy="684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No way to detect fraud at scale</a:t>
          </a:r>
        </a:p>
      </dsp:txBody>
      <dsp:txXfrm>
        <a:off x="3577937" y="1499845"/>
        <a:ext cx="1614396" cy="684895"/>
      </dsp:txXfrm>
    </dsp:sp>
    <dsp:sp modelId="{8A2AAF52-692C-45B7-A46C-8CE93B25943D}">
      <dsp:nvSpPr>
        <dsp:cNvPr id="0" name=""/>
        <dsp:cNvSpPr/>
      </dsp:nvSpPr>
      <dsp:spPr>
        <a:xfrm>
          <a:off x="18926" y="2811121"/>
          <a:ext cx="684895" cy="68489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2147E0-E698-4F69-A292-125F2F63F1FB}">
      <dsp:nvSpPr>
        <dsp:cNvPr id="0" name=""/>
        <dsp:cNvSpPr/>
      </dsp:nvSpPr>
      <dsp:spPr>
        <a:xfrm>
          <a:off x="162754" y="2954949"/>
          <a:ext cx="397239" cy="3972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8B58F5-4B95-4A2E-8FB1-202529F80DC4}">
      <dsp:nvSpPr>
        <dsp:cNvPr id="0" name=""/>
        <dsp:cNvSpPr/>
      </dsp:nvSpPr>
      <dsp:spPr>
        <a:xfrm>
          <a:off x="850585" y="2811121"/>
          <a:ext cx="1614396" cy="684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No visibility into customer risk</a:t>
          </a:r>
        </a:p>
      </dsp:txBody>
      <dsp:txXfrm>
        <a:off x="850585" y="2811121"/>
        <a:ext cx="1614396" cy="6848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B4DD36-CCC2-424B-9585-2ABF556F674B}" type="datetimeFigureOut">
              <a:t>4/17/2026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54B339-E2A2-42EA-8D62-9765992BDFC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262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grpSp>
        <p:nvGrpSpPr>
          <p:cNvPr id="25" name="Google Shape;25;p4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972600" y="2771833"/>
            <a:ext cx="10251600" cy="30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954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5157" y="868362"/>
            <a:ext cx="11122526" cy="1692443"/>
          </a:xfrm>
        </p:spPr>
        <p:txBody>
          <a:bodyPr>
            <a:normAutofit fontScale="90000"/>
          </a:bodyPr>
          <a:lstStyle/>
          <a:p>
            <a:r>
              <a:rPr lang="en-US" b="1">
                <a:ea typeface="+mj-lt"/>
                <a:cs typeface="+mj-lt"/>
              </a:rPr>
              <a:t>End-to-End Cloud Financial Data Pipeline on Microsoft Azure</a:t>
            </a:r>
            <a:endParaRPr lang="en-US"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63512"/>
            <a:ext cx="9144000" cy="165576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1800"/>
              <a:t>Group Members:</a:t>
            </a:r>
          </a:p>
          <a:p>
            <a:r>
              <a:rPr lang="en-US" sz="1800"/>
              <a:t> Natasha Kiara</a:t>
            </a:r>
          </a:p>
          <a:p>
            <a:r>
              <a:rPr lang="en-US" sz="1800" dirty="0" err="1"/>
              <a:t>Ujunwa</a:t>
            </a:r>
            <a:r>
              <a:rPr lang="en-US" sz="1800" dirty="0"/>
              <a:t> </a:t>
            </a:r>
            <a:r>
              <a:rPr lang="en-US" sz="1800" dirty="0" err="1"/>
              <a:t>Okwuaka</a:t>
            </a:r>
            <a:endParaRPr lang="en-US" sz="1800" dirty="0"/>
          </a:p>
          <a:p>
            <a:r>
              <a:rPr lang="en-US" sz="1800" dirty="0" err="1"/>
              <a:t>Oloruntobi</a:t>
            </a:r>
            <a:r>
              <a:rPr lang="en-US" sz="1800" dirty="0"/>
              <a:t> Salami </a:t>
            </a:r>
          </a:p>
          <a:p>
            <a:r>
              <a:rPr lang="en-US" sz="1800"/>
              <a:t>GitHub Link: </a:t>
            </a:r>
            <a:r>
              <a:rPr lang="en-US" sz="1800">
                <a:ea typeface="+mn-lt"/>
                <a:cs typeface="+mn-lt"/>
              </a:rPr>
              <a:t>https://github.com/natasha-kiara/financial-transactions-pipeline</a:t>
            </a:r>
            <a:endParaRPr lang="en-US" sz="1800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85DE98-FE5A-667D-7C38-91BF802272E1}"/>
              </a:ext>
            </a:extLst>
          </p:cNvPr>
          <p:cNvSpPr txBox="1">
            <a:spLocks/>
          </p:cNvSpPr>
          <p:nvPr/>
        </p:nvSpPr>
        <p:spPr>
          <a:xfrm>
            <a:off x="1195137" y="2872123"/>
            <a:ext cx="9625263" cy="113439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ea typeface="+mn-lt"/>
                <a:cs typeface="+mn-lt"/>
              </a:rPr>
              <a:t>Transforming 13.3 Million Transactions into Actionable Business Intelligence</a:t>
            </a:r>
          </a:p>
          <a:p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DAMG 7370 | Northeastern University</a:t>
            </a:r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96F0E07-066D-B4DA-DFD8-5EE634DE7066}"/>
              </a:ext>
            </a:extLst>
          </p:cNvPr>
          <p:cNvGrpSpPr/>
          <p:nvPr/>
        </p:nvGrpSpPr>
        <p:grpSpPr>
          <a:xfrm>
            <a:off x="5347368" y="6059904"/>
            <a:ext cx="1312781" cy="462550"/>
            <a:chOff x="4692315" y="5886115"/>
            <a:chExt cx="1687096" cy="622971"/>
          </a:xfrm>
        </p:grpSpPr>
        <p:pic>
          <p:nvPicPr>
            <p:cNvPr id="4" name="Picture 3" descr="A red and black logo&#10;&#10;AI-generated content may be incorrect.">
              <a:extLst>
                <a:ext uri="{FF2B5EF4-FFF2-40B4-BE49-F238E27FC236}">
                  <a16:creationId xmlns:a16="http://schemas.microsoft.com/office/drawing/2014/main" id="{1D4FB6A7-51F6-E993-5753-A62C79E6C7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61809" y="5950287"/>
              <a:ext cx="558802" cy="558799"/>
            </a:xfrm>
            <a:prstGeom prst="rect">
              <a:avLst/>
            </a:prstGeom>
          </p:spPr>
        </p:pic>
        <p:pic>
          <p:nvPicPr>
            <p:cNvPr id="5" name="Picture 4" descr="A blue logo with a black background&#10;&#10;AI-generated content may be incorrect.">
              <a:extLst>
                <a:ext uri="{FF2B5EF4-FFF2-40B4-BE49-F238E27FC236}">
                  <a16:creationId xmlns:a16="http://schemas.microsoft.com/office/drawing/2014/main" id="{00BB0901-B5D3-0252-55D7-EAB03DBE2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92315" y="5915527"/>
              <a:ext cx="548106" cy="561474"/>
            </a:xfrm>
            <a:prstGeom prst="rect">
              <a:avLst/>
            </a:prstGeom>
          </p:spPr>
        </p:pic>
        <p:pic>
          <p:nvPicPr>
            <p:cNvPr id="7" name="Picture 6" descr="A yellow rectangular object with black background&#10;&#10;AI-generated content may be incorrect.">
              <a:extLst>
                <a:ext uri="{FF2B5EF4-FFF2-40B4-BE49-F238E27FC236}">
                  <a16:creationId xmlns:a16="http://schemas.microsoft.com/office/drawing/2014/main" id="{C18753C4-0809-32CA-F2F5-16BD69B850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12589" y="5886115"/>
              <a:ext cx="566822" cy="5534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9F601-CE08-BC85-284E-257CDD819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B86C8-3731-1B11-6149-5A21C0618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The Problem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89DDD8-F5BC-E6FC-F692-149B4FCC8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224629" cy="596649"/>
          </a:xfr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Without a pipeline</a:t>
            </a:r>
            <a:endParaRPr lang="en-US"/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29B4D281-CAAE-0E70-0B7D-1D9A179C9762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839788" y="2264443"/>
          <a:ext cx="5211261" cy="3684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5AE148-FF87-8C7E-17E1-EF23CDC344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18725" y="1681163"/>
            <a:ext cx="5704557" cy="596649"/>
          </a:xfr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/>
          <a:p>
            <a:r>
              <a:rPr lang="en-US">
                <a:ea typeface="+mn-lt"/>
                <a:cs typeface="+mn-lt"/>
              </a:rPr>
              <a:t>With our pipeline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5A9704-00DB-CA9C-C9A2-EA61F00E5C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18727" y="2264443"/>
            <a:ext cx="5717924" cy="3684588"/>
          </a:xfr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>
                <a:ea typeface="+mn-lt"/>
                <a:cs typeface="+mn-lt"/>
              </a:rPr>
              <a:t>Every transaction automatically processed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Clean, structured data ready for analysis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Fraud flagged before it completes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At-risk customers identified before they leave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Stakeholders access live dashboards — no IT needed</a:t>
            </a:r>
            <a:endParaRPr lang="en-US"/>
          </a:p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3E9693-23E5-968C-7E82-BF9EC0C67453}"/>
              </a:ext>
            </a:extLst>
          </p:cNvPr>
          <p:cNvSpPr txBox="1"/>
          <p:nvPr/>
        </p:nvSpPr>
        <p:spPr>
          <a:xfrm>
            <a:off x="842527" y="5959970"/>
            <a:ext cx="1042130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Our goal: build an industry-standard cloud pipeline that transforms raw financial data into decisions a bank can act 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27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36FC83-C146-C77F-1FA4-49C7BBC91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F04891-5CB1-3EE6-A252-F990C92F5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94962" y="479493"/>
            <a:ext cx="545883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Dataset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8010C5-EBEF-E9F9-CD81-254BD6DB7415}"/>
              </a:ext>
            </a:extLst>
          </p:cNvPr>
          <p:cNvSpPr txBox="1"/>
          <p:nvPr/>
        </p:nvSpPr>
        <p:spPr>
          <a:xfrm>
            <a:off x="5894962" y="1984443"/>
            <a:ext cx="5458838" cy="419252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Key challenges:</a:t>
            </a:r>
            <a:endParaRPr lang="en-US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$ signs embedded in 5 numeric columns — amount, credit limit, income, debt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1.56M null merchant states — cause confirmed by EDA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Security columns requiring removal — CVV, card number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Severe class imbalance — 13,332 fraud cases in 13.3M transactions (0.1%)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4172245-B49C-913B-1715-27829A56B8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638123"/>
              </p:ext>
            </p:extLst>
          </p:nvPr>
        </p:nvGraphicFramePr>
        <p:xfrm>
          <a:off x="703182" y="1014425"/>
          <a:ext cx="4777382" cy="4659408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054248">
                  <a:extLst>
                    <a:ext uri="{9D8B030D-6E8A-4147-A177-3AD203B41FA5}">
                      <a16:colId xmlns:a16="http://schemas.microsoft.com/office/drawing/2014/main" val="4046885052"/>
                    </a:ext>
                  </a:extLst>
                </a:gridCol>
                <a:gridCol w="809014">
                  <a:extLst>
                    <a:ext uri="{9D8B030D-6E8A-4147-A177-3AD203B41FA5}">
                      <a16:colId xmlns:a16="http://schemas.microsoft.com/office/drawing/2014/main" val="1620033819"/>
                    </a:ext>
                  </a:extLst>
                </a:gridCol>
                <a:gridCol w="1914120">
                  <a:extLst>
                    <a:ext uri="{9D8B030D-6E8A-4147-A177-3AD203B41FA5}">
                      <a16:colId xmlns:a16="http://schemas.microsoft.com/office/drawing/2014/main" val="3035338396"/>
                    </a:ext>
                  </a:extLst>
                </a:gridCol>
              </a:tblGrid>
              <a:tr h="37911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File</a:t>
                      </a:r>
                      <a:endParaRPr lang="en-US" sz="1400" b="0" cap="none" spc="0">
                        <a:solidFill>
                          <a:schemeClr val="tx1"/>
                        </a:solidFill>
                      </a:endParaRPr>
                    </a:p>
                  </a:txBody>
                  <a:tcPr marL="81096" marR="81096" marT="64204" marB="64204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Rows</a:t>
                      </a:r>
                      <a:endParaRPr lang="en-US" sz="1400" b="0" cap="none" spc="0">
                        <a:solidFill>
                          <a:schemeClr val="tx1"/>
                        </a:solidFill>
                      </a:endParaRPr>
                    </a:p>
                  </a:txBody>
                  <a:tcPr marL="81096" marR="81096" marT="64204" marB="64204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cap="none" spc="0">
                          <a:solidFill>
                            <a:schemeClr val="tx1"/>
                          </a:solidFill>
                        </a:rPr>
                        <a:t>What it Contains</a:t>
                      </a:r>
                    </a:p>
                  </a:txBody>
                  <a:tcPr marL="81096" marR="81096" marT="64204" marB="64204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8935081"/>
                  </a:ext>
                </a:extLst>
              </a:tr>
              <a:tr h="102115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transactions_data.csv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1096" marR="81096" marT="64204" marB="64204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13.3 million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1096" marR="81096" marT="64204" marB="6420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Every card transaction across the 2010s — amount, merchant, date, card used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1096" marR="81096" marT="64204" marB="64204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9067459"/>
                  </a:ext>
                </a:extLst>
              </a:tr>
              <a:tr h="71542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cards_data.csv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1096" marR="81096" marT="64204" marB="6420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6,146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1096" marR="81096" marT="64204" marB="6420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Card details — type, brand, limit, chip status, PIN history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1096" marR="81096" marT="64204" marB="6420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25123"/>
                  </a:ext>
                </a:extLst>
              </a:tr>
              <a:tr h="102115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users_data.csv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1096" marR="81096" marT="64204" marB="64204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2,000</a:t>
                      </a:r>
                    </a:p>
                  </a:txBody>
                  <a:tcPr marL="81096" marR="81096" marT="64204" marB="6420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Customer demographics — age, income, debt, credit score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1096" marR="81096" marT="64204" marB="64204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9360969"/>
                  </a:ext>
                </a:extLst>
              </a:tr>
              <a:tr h="71542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cap="none" spc="0" noProof="0" err="1">
                          <a:solidFill>
                            <a:schemeClr val="tx1"/>
                          </a:solidFill>
                          <a:latin typeface="Aptos"/>
                        </a:rPr>
                        <a:t>mcc_codes.json</a:t>
                      </a:r>
                      <a:endParaRPr lang="en-US" sz="1200" cap="none" spc="0" err="1">
                        <a:solidFill>
                          <a:schemeClr val="tx1"/>
                        </a:solidFill>
                      </a:endParaRPr>
                    </a:p>
                  </a:txBody>
                  <a:tcPr marL="81096" marR="81096" marT="64204" marB="6420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Lookup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1096" marR="81096" marT="64204" marB="6420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Merchant category codes — maps numeric codes to business types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1096" marR="81096" marT="64204" marB="6420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241775"/>
                  </a:ext>
                </a:extLst>
              </a:tr>
              <a:tr h="80714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cap="none" spc="0" noProof="0" err="1">
                          <a:solidFill>
                            <a:schemeClr val="tx1"/>
                          </a:solidFill>
                          <a:latin typeface="Aptos"/>
                        </a:rPr>
                        <a:t>train_fraud_labels.json</a:t>
                      </a:r>
                      <a:endParaRPr lang="en-US" sz="1400" cap="none" spc="0" err="1">
                        <a:solidFill>
                          <a:schemeClr val="tx1"/>
                        </a:solidFill>
                      </a:endParaRPr>
                    </a:p>
                  </a:txBody>
                  <a:tcPr marL="81096" marR="81096" marT="64204" marB="64204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13,332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1096" marR="81096" marT="64204" marB="6420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Binary fraud labels — ground truth for supervised ML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1096" marR="81096" marT="64204" marB="64204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28839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2203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D8FD02-321A-C66B-A994-B8019F0D9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36D4E93-C853-37B3-CFF3-0CC0D8D661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What We Set Out to Answer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6CF4C9-2C91-7BC3-9E51-7B367635AC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Where is fraud concentrated, and can we predict which transactions are fraudulent before they're processed?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Which customers are quietly disengaging, and what do they look like demographically?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How has customer spending changed across the decade? Are there seasonal or category patterns?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Which states and merchant types drive the highest transaction volume — and the highest fraud?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What does our customer base look like in terms of income, debt, and credit health?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Are there distinct customer profiles we can identify and serve differently?</a:t>
            </a:r>
          </a:p>
        </p:txBody>
      </p:sp>
    </p:spTree>
    <p:extLst>
      <p:ext uri="{BB962C8B-B14F-4D97-AF65-F5344CB8AC3E}">
        <p14:creationId xmlns:p14="http://schemas.microsoft.com/office/powerpoint/2010/main" val="3621664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FA0359-F7CF-1F9A-A775-A4CC23D71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7E9031-7B6B-5448-9914-397DBE6F23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6826" y="1112969"/>
            <a:ext cx="3937298" cy="41660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Why Microsoft Azure?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19B8E4-6C02-7BB7-C141-9C372BA01B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820880"/>
            <a:ext cx="5257799" cy="48893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/>
              <a:t>🇨🇦 </a:t>
            </a:r>
            <a:r>
              <a:rPr lang="en-US" b="1"/>
              <a:t>PIPEDA Compliance</a:t>
            </a:r>
            <a:r>
              <a:rPr lang="en-US"/>
              <a:t> - All data stored in Canada Central region. Canadian financial regulations require customer data to remain within Canada.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/>
              <a:t>📊 </a:t>
            </a:r>
            <a:r>
              <a:rPr lang="en-US" b="1"/>
              <a:t>Power BI</a:t>
            </a:r>
            <a:r>
              <a:rPr lang="en-US"/>
              <a:t> - Native integration with Azure Synapse Analytics. No additional connectors or exports required.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/>
              <a:t>🏦 </a:t>
            </a:r>
            <a:r>
              <a:rPr lang="en-US" b="1"/>
              <a:t>Industry Alignment</a:t>
            </a:r>
            <a:r>
              <a:rPr lang="en-US"/>
              <a:t> - Canada's banks run on Azure. This project mirrors the actual stack used in Canadian financial services.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788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1FFF7F-D62C-BE2C-1800-52175A994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700E0F77-E936-4985-B7B1-B9823486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6F67E6-73AB-6620-B8BF-DE678A854E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89" y="4883544"/>
            <a:ext cx="3876086" cy="155690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Architecture Diagram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114;p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6960952-10AB-4D4B-C328-E2B4DCD96B5B}"/>
              </a:ext>
            </a:extLst>
          </p:cNvPr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388693" y="364142"/>
            <a:ext cx="7510668" cy="3867993"/>
          </a:xfrm>
          <a:prstGeom prst="rect">
            <a:avLst/>
          </a:prstGeom>
          <a:noFill/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01107" y="5661132"/>
            <a:ext cx="146304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018ADF-CC61-8168-FAF5-4679054AB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62719" y="4883544"/>
            <a:ext cx="6586915" cy="155690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/>
              <a:t>GitHub → Azure Data Factory → ADLS (raw/cleaned/curated) → Databricks → Synapse → Power BI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/>
              <a:t>• Data stored in Canada Central (PIPEDA compliance)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/>
              <a:t>• Medallion architecture improves data quality step-by-step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1364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D9C50-039A-A8E9-CEAD-4C2415291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EBD2F5-8C03-1BD9-EE8E-3394012775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6826" y="1112969"/>
            <a:ext cx="3937298" cy="41660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Medallion Architecture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D73511-4C6A-F451-85DE-8FAE0BD81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83" y="4551804"/>
            <a:ext cx="5257799" cy="202106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indent="-228600" algn="l">
              <a:buChar char="•"/>
            </a:pPr>
            <a:endParaRPr lang="en-US"/>
          </a:p>
          <a:p>
            <a:pPr algn="l"/>
            <a:r>
              <a:rPr lang="en-US"/>
              <a:t>Parquet used because:</a:t>
            </a:r>
          </a:p>
          <a:p>
            <a:pPr algn="l"/>
            <a:r>
              <a:rPr lang="en-US"/>
              <a:t>• Column-based (faster queries)</a:t>
            </a:r>
          </a:p>
          <a:p>
            <a:pPr algn="l"/>
            <a:r>
              <a:rPr lang="en-US"/>
              <a:t>• Better compression</a:t>
            </a:r>
          </a:p>
          <a:p>
            <a:pPr algn="l"/>
            <a:r>
              <a:rPr lang="en-US"/>
              <a:t>• Optimized for Synapse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7992B52-5878-8DE7-C63B-B139D9B242F9}"/>
              </a:ext>
            </a:extLst>
          </p:cNvPr>
          <p:cNvGrpSpPr/>
          <p:nvPr/>
        </p:nvGrpSpPr>
        <p:grpSpPr>
          <a:xfrm>
            <a:off x="6706451" y="821993"/>
            <a:ext cx="3665405" cy="3696524"/>
            <a:chOff x="933942" y="2432257"/>
            <a:chExt cx="3665405" cy="3696524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EF449ADD-B39B-AFF3-871C-872E020E06B9}"/>
                </a:ext>
              </a:extLst>
            </p:cNvPr>
            <p:cNvSpPr/>
            <p:nvPr/>
          </p:nvSpPr>
          <p:spPr>
            <a:xfrm>
              <a:off x="933944" y="2432257"/>
              <a:ext cx="3665403" cy="1183262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en-US" sz="2200" baseline="0">
                  <a:latin typeface="Aptos"/>
                </a:rPr>
                <a:t> </a:t>
              </a:r>
              <a:r>
                <a:rPr lang="en-US" sz="2200" baseline="0">
                  <a:solidFill>
                    <a:schemeClr val="tx1"/>
                  </a:solidFill>
                  <a:latin typeface="Aptos"/>
                </a:rPr>
                <a:t>raw/ → original data, no changes</a:t>
              </a:r>
              <a:r>
                <a:rPr lang="en-US" sz="2200">
                  <a:solidFill>
                    <a:schemeClr val="tx1"/>
                  </a:solidFill>
                  <a:latin typeface="Aptos"/>
                  <a:ea typeface="Aptos"/>
                  <a:cs typeface="Aptos"/>
                </a:rPr>
                <a:t>​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E8252F52-46F7-741E-4C47-40E599D0A498}"/>
                </a:ext>
              </a:extLst>
            </p:cNvPr>
            <p:cNvSpPr/>
            <p:nvPr/>
          </p:nvSpPr>
          <p:spPr>
            <a:xfrm>
              <a:off x="933942" y="4771729"/>
              <a:ext cx="3665404" cy="1357052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spcAft>
                  <a:spcPts val="600"/>
                </a:spcAft>
              </a:pPr>
              <a:r>
                <a:rPr lang="en-US" sz="2400" baseline="0">
                  <a:solidFill>
                    <a:schemeClr val="tx1"/>
                  </a:solidFill>
                  <a:latin typeface="Aptos"/>
                </a:rPr>
                <a:t>curated/ → structured into star schema</a:t>
              </a:r>
              <a:r>
                <a:rPr lang="en-US" sz="2400">
                  <a:solidFill>
                    <a:schemeClr val="tx1"/>
                  </a:solidFill>
                  <a:latin typeface="Aptos"/>
                  <a:ea typeface="Aptos"/>
                  <a:cs typeface="Aptos"/>
                </a:rPr>
                <a:t>​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46C9848-B1E6-A96C-9CC6-2682EDED1984}"/>
                </a:ext>
              </a:extLst>
            </p:cNvPr>
            <p:cNvSpPr/>
            <p:nvPr/>
          </p:nvSpPr>
          <p:spPr>
            <a:xfrm>
              <a:off x="933942" y="3608678"/>
              <a:ext cx="3665404" cy="116989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spcAft>
                  <a:spcPts val="600"/>
                </a:spcAft>
              </a:pPr>
              <a:r>
                <a:rPr lang="en-US" sz="2400" baseline="0">
                  <a:solidFill>
                    <a:schemeClr val="tx1"/>
                  </a:solidFill>
                  <a:latin typeface="Aptos"/>
                </a:rPr>
                <a:t>cleaned/ → fixed data types, handled nulls</a:t>
              </a:r>
              <a:r>
                <a:rPr lang="en-US" sz="2400">
                  <a:latin typeface="Aptos"/>
                  <a:ea typeface="Aptos"/>
                  <a:cs typeface="Aptos"/>
                </a:rPr>
                <a:t>​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44260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A72CDE-4943-05A0-D316-2E0CAF1B4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43AD40-4763-80D3-8C19-8D0F4F3D1A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609" y="602240"/>
            <a:ext cx="4171994" cy="1463455"/>
          </a:xfrm>
        </p:spPr>
        <p:txBody>
          <a:bodyPr>
            <a:normAutofit fontScale="90000"/>
          </a:bodyPr>
          <a:lstStyle/>
          <a:p>
            <a:pPr algn="l"/>
            <a:r>
              <a:rPr lang="en-US">
                <a:ea typeface="+mj-lt"/>
                <a:cs typeface="+mj-lt"/>
              </a:rPr>
              <a:t>Data Ingestion 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8BA013-2113-4266-21AB-5EA90476E9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609" y="2205559"/>
            <a:ext cx="4171994" cy="2701848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sz="1600" b="1">
                <a:ea typeface="+mn-lt"/>
                <a:cs typeface="+mn-lt"/>
              </a:rPr>
              <a:t>Git LFS</a:t>
            </a:r>
            <a:r>
              <a:rPr lang="en-US" sz="1600">
                <a:ea typeface="+mn-lt"/>
                <a:cs typeface="+mn-lt"/>
              </a:rPr>
              <a:t> GitHub's 100MB file limit exceeded by transactions CSV. Git Large File Storage routes large files through GitHub's dedicated LFS infrastructure automatically.</a:t>
            </a:r>
            <a:endParaRPr lang="en-US" sz="1600"/>
          </a:p>
          <a:p>
            <a:pPr algn="l"/>
            <a:r>
              <a:rPr lang="en-US" sz="1600" b="1">
                <a:ea typeface="+mn-lt"/>
                <a:cs typeface="+mn-lt"/>
              </a:rPr>
              <a:t>Linked Services</a:t>
            </a:r>
            <a:r>
              <a:rPr lang="en-US" sz="1600">
                <a:ea typeface="+mn-lt"/>
                <a:cs typeface="+mn-lt"/>
              </a:rPr>
              <a:t> Two registered connections — </a:t>
            </a:r>
            <a:r>
              <a:rPr lang="en-US" sz="1600" err="1">
                <a:ea typeface="+mn-lt"/>
                <a:cs typeface="+mn-lt"/>
              </a:rPr>
              <a:t>ls_github_http</a:t>
            </a:r>
            <a:r>
              <a:rPr lang="en-US" sz="1600">
                <a:ea typeface="+mn-lt"/>
                <a:cs typeface="+mn-lt"/>
              </a:rPr>
              <a:t> and </a:t>
            </a:r>
            <a:r>
              <a:rPr lang="en-US" sz="1600" err="1">
                <a:ea typeface="+mn-lt"/>
                <a:cs typeface="+mn-lt"/>
              </a:rPr>
              <a:t>ls_adls_fintech</a:t>
            </a:r>
            <a:r>
              <a:rPr lang="en-US" sz="1600">
                <a:ea typeface="+mn-lt"/>
                <a:cs typeface="+mn-lt"/>
              </a:rPr>
              <a:t> (ADLS Gen2 account key). ADF connects to both.</a:t>
            </a:r>
            <a:endParaRPr lang="en-US" sz="1600"/>
          </a:p>
          <a:p>
            <a:pPr algn="l"/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b="1">
                <a:ea typeface="+mn-lt"/>
                <a:cs typeface="+mn-lt"/>
              </a:rPr>
              <a:t>Parallel Ingestion</a:t>
            </a:r>
            <a:r>
              <a:rPr lang="en-US" sz="1600">
                <a:ea typeface="+mn-lt"/>
                <a:cs typeface="+mn-lt"/>
              </a:rPr>
              <a:t> All five files copied simultaneously, not sequentially. Total ingestion completes faster than copying one file at a time.</a:t>
            </a:r>
            <a:endParaRPr lang="en-US" sz="1600"/>
          </a:p>
          <a:p>
            <a:pPr algn="l"/>
            <a:endParaRPr lang="en-US" sz="16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5066886-F0C9-358B-74AA-233BE8F15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5994" y="864618"/>
            <a:ext cx="3097986" cy="53254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DFDE38-E5A4-1BF2-FD93-35A7D4B2BB04}"/>
              </a:ext>
            </a:extLst>
          </p:cNvPr>
          <p:cNvSpPr txBox="1"/>
          <p:nvPr/>
        </p:nvSpPr>
        <p:spPr>
          <a:xfrm>
            <a:off x="6096624" y="242265"/>
            <a:ext cx="480551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/>
              <a:t>Five parallel Copy Data activities running simultaneously:</a:t>
            </a:r>
          </a:p>
        </p:txBody>
      </p:sp>
    </p:spTree>
    <p:extLst>
      <p:ext uri="{BB962C8B-B14F-4D97-AF65-F5344CB8AC3E}">
        <p14:creationId xmlns:p14="http://schemas.microsoft.com/office/powerpoint/2010/main" val="527063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87B78-F41D-E610-C46D-8141688A0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0E75A-EC60-8800-4DE3-B080CAC66B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9984" y="255083"/>
            <a:ext cx="11532806" cy="609535"/>
          </a:xfrm>
        </p:spPr>
        <p:txBody>
          <a:bodyPr>
            <a:noAutofit/>
          </a:bodyPr>
          <a:lstStyle/>
          <a:p>
            <a:r>
              <a:rPr lang="en-US" sz="4400">
                <a:ea typeface="+mj-lt"/>
                <a:cs typeface="+mj-lt"/>
              </a:rPr>
              <a:t>Exploratory Data Analysis — What We Found First</a:t>
            </a:r>
            <a:endParaRPr lang="en-US" sz="44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48FC42-E7C6-6967-C786-42B30686A6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1933" y="869601"/>
            <a:ext cx="11105420" cy="398604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sz="1600">
                <a:ea typeface="+mn-lt"/>
                <a:cs typeface="+mn-lt"/>
              </a:rPr>
              <a:t>22 investigations ran across transactions, cards, customers, and cross-file joins before a single cleaning decision was made</a:t>
            </a:r>
            <a:endParaRPr lang="en-US" sz="1600"/>
          </a:p>
          <a:p>
            <a:pPr algn="l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9D1885A-EFCA-3D79-BB95-45F696834048}"/>
              </a:ext>
            </a:extLst>
          </p:cNvPr>
          <p:cNvGrpSpPr/>
          <p:nvPr/>
        </p:nvGrpSpPr>
        <p:grpSpPr>
          <a:xfrm>
            <a:off x="6675546" y="1223201"/>
            <a:ext cx="5497931" cy="3369189"/>
            <a:chOff x="387040" y="1223201"/>
            <a:chExt cx="5706478" cy="336918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28F058D-80C4-A1C6-D7CF-5BFA96BA52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7040" y="1223201"/>
              <a:ext cx="5706478" cy="2844466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9884D33-C981-F5D0-DEB8-8387BA320D9D}"/>
                </a:ext>
              </a:extLst>
            </p:cNvPr>
            <p:cNvSpPr txBox="1"/>
            <p:nvPr/>
          </p:nvSpPr>
          <p:spPr>
            <a:xfrm>
              <a:off x="399160" y="4069170"/>
              <a:ext cx="5694341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>
                  <a:ea typeface="+mn-lt"/>
                  <a:cs typeface="+mn-lt"/>
                </a:rPr>
                <a:t>Insufficient Balance dominates at 130,902 — the strongest financial stress signal</a:t>
              </a:r>
              <a:endParaRPr lang="en-US" sz="140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63B0E4A-CACB-9929-0B1F-91B4084E2039}"/>
              </a:ext>
            </a:extLst>
          </p:cNvPr>
          <p:cNvGrpSpPr/>
          <p:nvPr/>
        </p:nvGrpSpPr>
        <p:grpSpPr>
          <a:xfrm>
            <a:off x="602137" y="1219550"/>
            <a:ext cx="5548797" cy="3176244"/>
            <a:chOff x="6409379" y="1219550"/>
            <a:chExt cx="5516713" cy="3781935"/>
          </a:xfrm>
        </p:grpSpPr>
        <p:pic>
          <p:nvPicPr>
            <p:cNvPr id="6" name="Picture 5" descr="A graph of a fraud rate&#10;&#10;AI-generated content may be incorrect.">
              <a:extLst>
                <a:ext uri="{FF2B5EF4-FFF2-40B4-BE49-F238E27FC236}">
                  <a16:creationId xmlns:a16="http://schemas.microsoft.com/office/drawing/2014/main" id="{8662E2BE-6E41-E235-ADE4-53FD18782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9379" y="1219550"/>
              <a:ext cx="5054266" cy="3248117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7D1408A-8B80-4FC9-50A9-10D3920D692A}"/>
                </a:ext>
              </a:extLst>
            </p:cNvPr>
            <p:cNvSpPr txBox="1"/>
            <p:nvPr/>
          </p:nvSpPr>
          <p:spPr>
            <a:xfrm>
              <a:off x="6670564" y="4355154"/>
              <a:ext cx="5255528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>
                  <a:ea typeface="+mn-lt"/>
                  <a:cs typeface="+mn-lt"/>
                </a:rPr>
                <a:t>Online transactions carry the highest fraud rate — drives feature engineering</a:t>
              </a:r>
              <a:endParaRPr lang="en-US" sz="1400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B14B9983-77F7-6AC3-E8F6-90ABF0DAA2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56" y="4393775"/>
            <a:ext cx="6673516" cy="23919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F2D430-95C6-FE8D-7147-284A67651BCC}"/>
              </a:ext>
            </a:extLst>
          </p:cNvPr>
          <p:cNvSpPr txBox="1"/>
          <p:nvPr/>
        </p:nvSpPr>
        <p:spPr>
          <a:xfrm>
            <a:off x="6669202" y="5319016"/>
            <a:ext cx="4058651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ea typeface="+mn-lt"/>
                <a:cs typeface="+mn-lt"/>
              </a:rPr>
              <a:t>Spending grew steadily 2010–2013, then </a:t>
            </a:r>
            <a:r>
              <a:rPr lang="en-US" sz="1400" err="1">
                <a:ea typeface="+mn-lt"/>
                <a:cs typeface="+mn-lt"/>
              </a:rPr>
              <a:t>estabilised</a:t>
            </a:r>
            <a:r>
              <a:rPr lang="en-US" sz="1400">
                <a:ea typeface="+mn-lt"/>
                <a:cs typeface="+mn-lt"/>
              </a:rPr>
              <a:t> — no gaps or drop-offs confirm dataset completeness across the full decade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114235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24D81-3287-093B-28B3-0FC110CA0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C7354-EFAF-2672-1A03-4630CB09F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9984" y="255083"/>
            <a:ext cx="11532806" cy="609535"/>
          </a:xfrm>
        </p:spPr>
        <p:txBody>
          <a:bodyPr>
            <a:noAutofit/>
          </a:bodyPr>
          <a:lstStyle/>
          <a:p>
            <a:r>
              <a:rPr lang="en-US" sz="4400">
                <a:ea typeface="+mj-lt"/>
                <a:cs typeface="+mj-lt"/>
              </a:rPr>
              <a:t>Exploratory Data Analysis — What We Found First</a:t>
            </a:r>
            <a:endParaRPr lang="en-US" sz="4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6A6323-5E5E-83A8-A800-CA41F0D27626}"/>
              </a:ext>
            </a:extLst>
          </p:cNvPr>
          <p:cNvSpPr txBox="1"/>
          <p:nvPr/>
        </p:nvSpPr>
        <p:spPr>
          <a:xfrm>
            <a:off x="206654" y="3226960"/>
            <a:ext cx="569434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ea typeface="+mn-lt"/>
                <a:cs typeface="+mn-lt"/>
              </a:rPr>
              <a:t>Age distribution is broadly similar across genders — peak customers in the 30–60 range</a:t>
            </a:r>
            <a:endParaRPr lang="en-US" sz="1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24CA71-9C7D-59AD-F95D-39278B7FCC8C}"/>
              </a:ext>
            </a:extLst>
          </p:cNvPr>
          <p:cNvSpPr txBox="1"/>
          <p:nvPr/>
        </p:nvSpPr>
        <p:spPr>
          <a:xfrm>
            <a:off x="6734733" y="4088844"/>
            <a:ext cx="525552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ea typeface="+mn-lt"/>
                <a:cs typeface="+mn-lt"/>
              </a:rPr>
              <a:t>Credit score distribution confirms natural band cutoffs at 580, 670, and 740</a:t>
            </a:r>
            <a:endParaRPr lang="en-US"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316E8C-8FAB-7C70-7634-D7C181D88E66}"/>
              </a:ext>
            </a:extLst>
          </p:cNvPr>
          <p:cNvSpPr txBox="1"/>
          <p:nvPr/>
        </p:nvSpPr>
        <p:spPr>
          <a:xfrm>
            <a:off x="6019876" y="5306303"/>
            <a:ext cx="410178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ea typeface="+mn-lt"/>
                <a:cs typeface="+mn-lt"/>
              </a:rPr>
              <a:t>Mastercard Debit dominates at 2,191 cards — Amex is 100% credit with no debit products</a:t>
            </a:r>
            <a:endParaRPr lang="en-US" sz="14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EC1B8A1-688F-EC9C-328E-B618330FA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6605" y="866623"/>
            <a:ext cx="6436924" cy="32223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65D80E4-5C4A-CD7D-5A03-43DEEFBDE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" y="728752"/>
            <a:ext cx="6099055" cy="2496270"/>
          </a:xfrm>
          <a:prstGeom prst="rect">
            <a:avLst/>
          </a:prstGeom>
        </p:spPr>
      </p:pic>
      <p:pic>
        <p:nvPicPr>
          <p:cNvPr id="14" name="Picture 13" descr="A graph of a number of different colored bars&#10;&#10;AI-generated content may be incorrect.">
            <a:extLst>
              <a:ext uri="{FF2B5EF4-FFF2-40B4-BE49-F238E27FC236}">
                <a16:creationId xmlns:a16="http://schemas.microsoft.com/office/drawing/2014/main" id="{F39091F0-F0DE-0A42-2811-D74400271F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88" y="3971301"/>
            <a:ext cx="5902266" cy="2884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139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E6A38E-5124-1D16-624D-1C153CC53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54C03BF-CDB8-BC47-2666-DEBE48E56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1FDB1A-5FE0-85E8-E266-ABCF6C444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28444"/>
          </a:xfrm>
        </p:spPr>
        <p:txBody>
          <a:bodyPr>
            <a:normAutofit/>
          </a:bodyPr>
          <a:lstStyle/>
          <a:p>
            <a:pPr algn="ctr"/>
            <a:r>
              <a:rPr lang="en-US" sz="5200">
                <a:ea typeface="+mj-lt"/>
                <a:cs typeface="+mj-lt"/>
              </a:rPr>
              <a:t>Key Insights from 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5E235-0956-012B-EE7E-F92386D1E7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02979"/>
            <a:ext cx="10358562" cy="42865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1600" b="1">
              <a:ea typeface="+mn-lt"/>
              <a:cs typeface="+mn-lt"/>
            </a:endParaRPr>
          </a:p>
          <a:p>
            <a:pPr marL="285750" indent="-285750"/>
            <a:r>
              <a:rPr lang="en-US" sz="1800">
                <a:ea typeface="+mn-lt"/>
                <a:cs typeface="+mn-lt"/>
              </a:rPr>
              <a:t>Spending trends show steady growth across the years, confirming consistent data coverage.</a:t>
            </a:r>
            <a:endParaRPr lang="en-US"/>
          </a:p>
          <a:p>
            <a:pPr marL="285750" indent="-285750"/>
            <a:r>
              <a:rPr lang="en-US" sz="1800">
                <a:ea typeface="+mn-lt"/>
                <a:cs typeface="+mn-lt"/>
              </a:rPr>
              <a:t>Fraud is more influenced by transaction location than amount.</a:t>
            </a:r>
          </a:p>
          <a:p>
            <a:pPr marL="285750" indent="-285750"/>
            <a:r>
              <a:rPr lang="en-US" sz="1800">
                <a:ea typeface="+mn-lt"/>
                <a:cs typeface="+mn-lt"/>
              </a:rPr>
              <a:t>Majority of customers fall within the 30–60 age group.</a:t>
            </a:r>
            <a:endParaRPr lang="en-US" sz="1800"/>
          </a:p>
          <a:p>
            <a:pPr marL="285750" indent="-285750"/>
            <a:r>
              <a:rPr lang="en-US" sz="1800">
                <a:ea typeface="+mn-lt"/>
                <a:cs typeface="+mn-lt"/>
              </a:rPr>
              <a:t>Credit scores naturally group into clear bands (Poor, Fair, Good, Excellent).</a:t>
            </a:r>
            <a:endParaRPr lang="en-US" sz="1800"/>
          </a:p>
          <a:p>
            <a:pPr marL="285750" indent="-285750"/>
            <a:r>
              <a:rPr lang="en-US" sz="1800">
                <a:ea typeface="+mn-lt"/>
                <a:cs typeface="+mn-lt"/>
              </a:rPr>
              <a:t>Debit cards are the most commonly used, while Amex is strictly credit-based.</a:t>
            </a:r>
            <a:endParaRPr lang="en-US" sz="1800"/>
          </a:p>
          <a:p>
            <a:pPr marL="285750" indent="-285750"/>
            <a:r>
              <a:rPr lang="en-US" sz="1800">
                <a:ea typeface="+mn-lt"/>
                <a:cs typeface="+mn-lt"/>
              </a:rPr>
              <a:t>Fraud cases are extremely rare compared to total transactions (high class imbalance).</a:t>
            </a:r>
            <a:endParaRPr lang="en-US" sz="1800"/>
          </a:p>
          <a:p>
            <a:pPr>
              <a:buNone/>
            </a:pPr>
            <a:endParaRPr lang="en-US" sz="1800">
              <a:ea typeface="+mn-lt"/>
              <a:cs typeface="+mn-lt"/>
            </a:endParaRPr>
          </a:p>
          <a:p>
            <a:pPr algn="ctr">
              <a:buNone/>
            </a:pPr>
            <a:r>
              <a:rPr lang="en-US" sz="1800">
                <a:ea typeface="+mn-lt"/>
                <a:cs typeface="+mn-lt"/>
              </a:rPr>
              <a:t>From these EDA findings, we identified key data issues and patterns, which guided our cleaning and feature engineering steps.</a:t>
            </a:r>
            <a:endParaRPr lang="en-US" sz="1800"/>
          </a:p>
          <a:p>
            <a:pPr marL="0" indent="0" algn="ctr">
              <a:buNone/>
            </a:pPr>
            <a:endParaRPr lang="en-US" sz="1600" b="1"/>
          </a:p>
          <a:p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378875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80FC5B-2422-BF17-9593-F4BA7E813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D0FF4E-ACC7-40DD-D9D4-7307923C5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1" y="417576"/>
            <a:ext cx="10909640" cy="1249394"/>
          </a:xfrm>
        </p:spPr>
        <p:txBody>
          <a:bodyPr anchor="ctr">
            <a:normAutofit/>
          </a:bodyPr>
          <a:lstStyle/>
          <a:p>
            <a:r>
              <a:rPr lang="en-US" sz="6600"/>
              <a:t>Data Cleaning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0E00AF-F13D-9BDD-7C82-FB51AD5AA6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1" y="1809541"/>
            <a:ext cx="10909643" cy="687406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  <a:p>
            <a:endParaRPr lang="en-US"/>
          </a:p>
        </p:txBody>
      </p:sp>
      <p:sp>
        <p:nvSpPr>
          <p:cNvPr id="27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7BE2483-544E-FB65-D50D-A695B2BFD2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767698"/>
              </p:ext>
            </p:extLst>
          </p:nvPr>
        </p:nvGraphicFramePr>
        <p:xfrm>
          <a:off x="1171073" y="2029326"/>
          <a:ext cx="9946056" cy="4184913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4261969">
                  <a:extLst>
                    <a:ext uri="{9D8B030D-6E8A-4147-A177-3AD203B41FA5}">
                      <a16:colId xmlns:a16="http://schemas.microsoft.com/office/drawing/2014/main" val="2928078449"/>
                    </a:ext>
                  </a:extLst>
                </a:gridCol>
                <a:gridCol w="5684087">
                  <a:extLst>
                    <a:ext uri="{9D8B030D-6E8A-4147-A177-3AD203B41FA5}">
                      <a16:colId xmlns:a16="http://schemas.microsoft.com/office/drawing/2014/main" val="708729876"/>
                    </a:ext>
                  </a:extLst>
                </a:gridCol>
              </a:tblGrid>
              <a:tr h="3940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Cleaning Action</a:t>
                      </a:r>
                      <a:endParaRPr lang="en-US" sz="1400" b="1" cap="none" spc="0">
                        <a:solidFill>
                          <a:schemeClr val="tx1"/>
                        </a:solidFill>
                      </a:endParaRPr>
                    </a:p>
                  </a:txBody>
                  <a:tcPr marL="39592" marR="40379" marT="11312" marB="84839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Justification</a:t>
                      </a:r>
                    </a:p>
                  </a:txBody>
                  <a:tcPr marL="39592" marR="40379" marT="11312" marB="84839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03125"/>
                  </a:ext>
                </a:extLst>
              </a:tr>
              <a:tr h="63805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Strip $ from amount, </a:t>
                      </a:r>
                      <a:r>
                        <a:rPr lang="en-US" sz="1400" b="0" i="0" u="none" strike="noStrike" cap="none" spc="0" noProof="0" err="1">
                          <a:solidFill>
                            <a:schemeClr val="tx1"/>
                          </a:solidFill>
                          <a:latin typeface="Aptos"/>
                        </a:rPr>
                        <a:t>credit_limit</a:t>
                      </a: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, </a:t>
                      </a:r>
                      <a:r>
                        <a:rPr lang="en-US" sz="1400" b="0" i="0" u="none" strike="noStrike" cap="none" spc="0" noProof="0" err="1">
                          <a:solidFill>
                            <a:schemeClr val="tx1"/>
                          </a:solidFill>
                          <a:latin typeface="Aptos"/>
                        </a:rPr>
                        <a:t>yearly_income</a:t>
                      </a: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, </a:t>
                      </a:r>
                      <a:r>
                        <a:rPr lang="en-US" sz="1400" b="0" i="0" u="none" strike="noStrike" cap="none" spc="0" noProof="0" err="1">
                          <a:solidFill>
                            <a:schemeClr val="tx1"/>
                          </a:solidFill>
                          <a:latin typeface="Aptos"/>
                        </a:rPr>
                        <a:t>total_debt</a:t>
                      </a: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, </a:t>
                      </a:r>
                      <a:r>
                        <a:rPr lang="en-US" sz="1400" b="0" i="0" u="none" strike="noStrike" cap="none" spc="0" noProof="0" err="1">
                          <a:solidFill>
                            <a:schemeClr val="tx1"/>
                          </a:solidFill>
                          <a:latin typeface="Aptos"/>
                        </a:rPr>
                        <a:t>per_capita_income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39592" marR="40379" marT="11312" marB="84839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EDA confirmed all five stored as strings — arithmetic impossible on string columns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39592" marR="40379" marT="11312" marB="8483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281792"/>
                  </a:ext>
                </a:extLst>
              </a:tr>
              <a:tr h="3940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Fill 1.56M null </a:t>
                      </a:r>
                      <a:r>
                        <a:rPr lang="en-US" sz="1400" b="0" i="0" u="none" strike="noStrike" cap="none" spc="0" noProof="0" err="1">
                          <a:solidFill>
                            <a:schemeClr val="tx1"/>
                          </a:solidFill>
                          <a:latin typeface="Aptos"/>
                        </a:rPr>
                        <a:t>merchant_states</a:t>
                      </a: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 → "Online"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39592" marR="40379" marT="11312" marB="84839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EDA </a:t>
                      </a:r>
                      <a:r>
                        <a:rPr lang="en-US" sz="1400" b="0" i="0" u="none" strike="noStrike" cap="none" spc="0" noProof="0" err="1">
                          <a:solidFill>
                            <a:schemeClr val="tx1"/>
                          </a:solidFill>
                          <a:latin typeface="Aptos"/>
                        </a:rPr>
                        <a:t>groupby</a:t>
                      </a: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 confirmed 100% of null states are Online transactions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39592" marR="40379" marT="11312" marB="8483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175451"/>
                  </a:ext>
                </a:extLst>
              </a:tr>
              <a:tr h="3940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Fill 5,788 remaining nulls → "Unknown"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39592" marR="40379" marT="11312" marB="84839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Small residual — chip transactions with missing state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39592" marR="40379" marT="11312" marB="8483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290015"/>
                  </a:ext>
                </a:extLst>
              </a:tr>
              <a:tr h="3940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Drop zip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39592" marR="40379" marT="11312" marB="84839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1.65M nulls + 25,256 unique values + fully redundant with city and state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39592" marR="40379" marT="11312" marB="8483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121553"/>
                  </a:ext>
                </a:extLst>
              </a:tr>
              <a:tr h="3940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Drop CVV, </a:t>
                      </a:r>
                      <a:r>
                        <a:rPr lang="en-US" sz="1400" b="0" i="0" u="none" strike="noStrike" cap="none" spc="0" noProof="0" err="1">
                          <a:solidFill>
                            <a:schemeClr val="tx1"/>
                          </a:solidFill>
                          <a:latin typeface="Aptos"/>
                        </a:rPr>
                        <a:t>card_number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39592" marR="40379" marT="11312" marB="84839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Security compliance — must never appear in an analytics system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39592" marR="40379" marT="11312" marB="8483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930961"/>
                  </a:ext>
                </a:extLst>
              </a:tr>
              <a:tr h="3940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Drop </a:t>
                      </a:r>
                      <a:r>
                        <a:rPr lang="en-US" sz="1400" b="0" i="0" u="none" strike="noStrike" cap="none" spc="0" noProof="0" err="1">
                          <a:solidFill>
                            <a:schemeClr val="tx1"/>
                          </a:solidFill>
                          <a:latin typeface="Aptos"/>
                        </a:rPr>
                        <a:t>card_on_dark_web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39592" marR="40379" marT="11312" marB="84839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Zero variation — all 6,146 cards returned "No" confirmed by EDA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39592" marR="40379" marT="11312" marB="8483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810192"/>
                  </a:ext>
                </a:extLst>
              </a:tr>
              <a:tr h="3940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Fill errors nulls → "No Error"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39592" marR="40379" marT="11312" marB="84839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13M nulls = clean transactions. Null means no error occurred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39592" marR="40379" marT="11312" marB="8483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187605"/>
                  </a:ext>
                </a:extLst>
              </a:tr>
              <a:tr h="3940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Join fraud labels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39592" marR="40379" marT="11312" marB="84839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13,332 transactions matched to ground truth fraud labels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39592" marR="40379" marT="11312" marB="8483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453246"/>
                  </a:ext>
                </a:extLst>
              </a:tr>
              <a:tr h="3940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Join MCC codes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39592" marR="40379" marT="11312" marB="84839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Human-readable merchant categories added to 13.3M transactions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39592" marR="40379" marT="11312" marB="8483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643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434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FFBEE45-F140-49D5-85EA-C78C24340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36691F-37C8-8D31-BDD4-6FEA62B48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28444"/>
          </a:xfrm>
        </p:spPr>
        <p:txBody>
          <a:bodyPr>
            <a:normAutofit/>
          </a:bodyPr>
          <a:lstStyle/>
          <a:p>
            <a:r>
              <a:rPr lang="en-US" sz="5200">
                <a:ea typeface="+mj-lt"/>
                <a:cs typeface="+mj-lt"/>
              </a:rPr>
              <a:t>Feature Engineering </a:t>
            </a:r>
            <a:endParaRPr lang="en-US" sz="5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30E6-5E97-B862-BB4F-0438086831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98626"/>
            <a:ext cx="5158427" cy="37304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sz="1600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600" b="1">
                <a:ea typeface="+mn-lt"/>
                <a:cs typeface="+mn-lt"/>
              </a:rPr>
              <a:t>Transaction-level features (</a:t>
            </a:r>
            <a:r>
              <a:rPr lang="en-US" sz="1600">
                <a:ea typeface="+mn-lt"/>
                <a:cs typeface="+mn-lt"/>
              </a:rPr>
              <a:t>used by fraud model + Synapse fraud view</a:t>
            </a:r>
            <a:r>
              <a:rPr lang="en-US" sz="1600" b="1">
                <a:ea typeface="+mn-lt"/>
                <a:cs typeface="+mn-lt"/>
              </a:rPr>
              <a:t>):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is_home_state — does transaction state match customer's home state?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is_high_risk_hour — transaction between 11pm and 5am?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amount_vs_customer_avg — deviation from customer's average spend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use_chip_encoded — transaction method as numeric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merchant_state_encoded, merchant_category_encoded — categorical encoding for ML</a:t>
            </a:r>
            <a:endParaRPr lang="en-US" sz="1600"/>
          </a:p>
          <a:p>
            <a:endParaRPr lang="en-US" sz="16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2242B4-69A6-324B-8C47-7DAA1474D7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9154" y="2398626"/>
            <a:ext cx="5164645" cy="373046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 sz="1400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400" b="1">
                <a:ea typeface="+mn-lt"/>
                <a:cs typeface="+mn-lt"/>
              </a:rPr>
              <a:t>Customer-level features</a:t>
            </a:r>
            <a:r>
              <a:rPr lang="en-US" sz="1400">
                <a:ea typeface="+mn-lt"/>
                <a:cs typeface="+mn-lt"/>
              </a:rPr>
              <a:t> (used by segmentation model + Synapse customer/retention views):</a:t>
            </a:r>
            <a:endParaRPr lang="en-US" sz="1400"/>
          </a:p>
          <a:p>
            <a:r>
              <a:rPr lang="en-US" sz="1400" err="1">
                <a:ea typeface="+mn-lt"/>
                <a:cs typeface="+mn-lt"/>
              </a:rPr>
              <a:t>avg_txn_count</a:t>
            </a:r>
            <a:r>
              <a:rPr lang="en-US" sz="1400">
                <a:ea typeface="+mn-lt"/>
                <a:cs typeface="+mn-lt"/>
              </a:rPr>
              <a:t> — total transactions per customer</a:t>
            </a:r>
            <a:endParaRPr lang="en-US" sz="1400"/>
          </a:p>
          <a:p>
            <a:r>
              <a:rPr lang="en-US" sz="1400" err="1">
                <a:ea typeface="+mn-lt"/>
                <a:cs typeface="+mn-lt"/>
              </a:rPr>
              <a:t>avg_days_inactive</a:t>
            </a:r>
            <a:r>
              <a:rPr lang="en-US" sz="1400">
                <a:ea typeface="+mn-lt"/>
                <a:cs typeface="+mn-lt"/>
              </a:rPr>
              <a:t> — days since last transaction</a:t>
            </a:r>
            <a:endParaRPr lang="en-US" sz="1400"/>
          </a:p>
          <a:p>
            <a:r>
              <a:rPr lang="en-US" sz="1400" err="1">
                <a:ea typeface="+mn-lt"/>
                <a:cs typeface="+mn-lt"/>
              </a:rPr>
              <a:t>avg_spend_per_transaction</a:t>
            </a:r>
            <a:r>
              <a:rPr lang="en-US" sz="1400">
                <a:ea typeface="+mn-lt"/>
                <a:cs typeface="+mn-lt"/>
              </a:rPr>
              <a:t> — average spend amount</a:t>
            </a:r>
            <a:endParaRPr lang="en-US" sz="1400"/>
          </a:p>
          <a:p>
            <a:r>
              <a:rPr lang="en-US" sz="1400" err="1">
                <a:ea typeface="+mn-lt"/>
                <a:cs typeface="+mn-lt"/>
              </a:rPr>
              <a:t>error_rate</a:t>
            </a:r>
            <a:r>
              <a:rPr lang="en-US" sz="1400">
                <a:ea typeface="+mn-lt"/>
                <a:cs typeface="+mn-lt"/>
              </a:rPr>
              <a:t> — proportion of transactions with errors</a:t>
            </a:r>
            <a:endParaRPr lang="en-US" sz="1400"/>
          </a:p>
          <a:p>
            <a:r>
              <a:rPr lang="en-US" sz="1400" err="1">
                <a:ea typeface="+mn-lt"/>
                <a:cs typeface="+mn-lt"/>
              </a:rPr>
              <a:t>insufficient_balance_count</a:t>
            </a:r>
            <a:r>
              <a:rPr lang="en-US" sz="1400">
                <a:ea typeface="+mn-lt"/>
                <a:cs typeface="+mn-lt"/>
              </a:rPr>
              <a:t> — count of Insufficient Balance errors</a:t>
            </a:r>
            <a:endParaRPr lang="en-US" sz="1400"/>
          </a:p>
          <a:p>
            <a:r>
              <a:rPr lang="en-US" sz="1400" err="1">
                <a:ea typeface="+mn-lt"/>
                <a:cs typeface="+mn-lt"/>
              </a:rPr>
              <a:t>pct_online_transactions</a:t>
            </a:r>
            <a:r>
              <a:rPr lang="en-US" sz="1400">
                <a:ea typeface="+mn-lt"/>
                <a:cs typeface="+mn-lt"/>
              </a:rPr>
              <a:t> — share of online vs physical</a:t>
            </a:r>
            <a:endParaRPr lang="en-US" sz="1400"/>
          </a:p>
          <a:p>
            <a:r>
              <a:rPr lang="en-US" sz="1400" err="1">
                <a:ea typeface="+mn-lt"/>
                <a:cs typeface="+mn-lt"/>
              </a:rPr>
              <a:t>debt_to_income_ratio</a:t>
            </a:r>
            <a:r>
              <a:rPr lang="en-US" sz="1400">
                <a:ea typeface="+mn-lt"/>
                <a:cs typeface="+mn-lt"/>
              </a:rPr>
              <a:t> — </a:t>
            </a:r>
            <a:r>
              <a:rPr lang="en-US" sz="1400" err="1">
                <a:ea typeface="+mn-lt"/>
                <a:cs typeface="+mn-lt"/>
              </a:rPr>
              <a:t>total_debt</a:t>
            </a:r>
            <a:r>
              <a:rPr lang="en-US" sz="1400">
                <a:ea typeface="+mn-lt"/>
                <a:cs typeface="+mn-lt"/>
              </a:rPr>
              <a:t> / </a:t>
            </a:r>
            <a:r>
              <a:rPr lang="en-US" sz="1400" err="1">
                <a:ea typeface="+mn-lt"/>
                <a:cs typeface="+mn-lt"/>
              </a:rPr>
              <a:t>yearly_income</a:t>
            </a:r>
            <a:endParaRPr lang="en-US" sz="1400"/>
          </a:p>
          <a:p>
            <a:r>
              <a:rPr lang="en-US" sz="1400" err="1">
                <a:ea typeface="+mn-lt"/>
                <a:cs typeface="+mn-lt"/>
              </a:rPr>
              <a:t>has_expired_card</a:t>
            </a:r>
            <a:r>
              <a:rPr lang="en-US" sz="1400">
                <a:ea typeface="+mn-lt"/>
                <a:cs typeface="+mn-lt"/>
              </a:rPr>
              <a:t> — whether customer holds an expired card</a:t>
            </a:r>
            <a:endParaRPr lang="en-US" sz="1400"/>
          </a:p>
          <a:p>
            <a:r>
              <a:rPr lang="en-US" sz="1400" err="1">
                <a:ea typeface="+mn-lt"/>
                <a:cs typeface="+mn-lt"/>
              </a:rPr>
              <a:t>account_tenure_days</a:t>
            </a:r>
            <a:r>
              <a:rPr lang="en-US" sz="1400">
                <a:ea typeface="+mn-lt"/>
                <a:cs typeface="+mn-lt"/>
              </a:rPr>
              <a:t> — days since account was opened</a:t>
            </a:r>
            <a:endParaRPr lang="en-US" sz="1400"/>
          </a:p>
          <a:p>
            <a:r>
              <a:rPr lang="en-US" sz="1400" err="1">
                <a:ea typeface="+mn-lt"/>
                <a:cs typeface="+mn-lt"/>
              </a:rPr>
              <a:t>credit_score_band</a:t>
            </a:r>
            <a:r>
              <a:rPr lang="en-US" sz="1400">
                <a:ea typeface="+mn-lt"/>
                <a:cs typeface="+mn-lt"/>
              </a:rPr>
              <a:t> — Poor / Fair / Good / Excellent</a:t>
            </a:r>
            <a:endParaRPr lang="en-US" sz="1400"/>
          </a:p>
          <a:p>
            <a:r>
              <a:rPr lang="en-US" sz="1400" err="1">
                <a:ea typeface="+mn-lt"/>
                <a:cs typeface="+mn-lt"/>
              </a:rPr>
              <a:t>age_group</a:t>
            </a:r>
            <a:r>
              <a:rPr lang="en-US" sz="1400">
                <a:ea typeface="+mn-lt"/>
                <a:cs typeface="+mn-lt"/>
              </a:rPr>
              <a:t> — Under 30 / 30–44 / 45–59 / 60+</a:t>
            </a:r>
            <a:endParaRPr lang="en-US" sz="1400"/>
          </a:p>
          <a:p>
            <a:endParaRPr lang="en-US" sz="1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4BFC25-D7A7-7E3D-9B31-D349D13EF5E4}"/>
              </a:ext>
            </a:extLst>
          </p:cNvPr>
          <p:cNvSpPr txBox="1"/>
          <p:nvPr/>
        </p:nvSpPr>
        <p:spPr>
          <a:xfrm>
            <a:off x="843762" y="1714694"/>
            <a:ext cx="1076632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/>
              <a:t>Features were engineered to serve two consumers — the Synapse SQL views that power the dashboards, and the ML models that produce predictions</a:t>
            </a:r>
          </a:p>
        </p:txBody>
      </p:sp>
    </p:spTree>
    <p:extLst>
      <p:ext uri="{BB962C8B-B14F-4D97-AF65-F5344CB8AC3E}">
        <p14:creationId xmlns:p14="http://schemas.microsoft.com/office/powerpoint/2010/main" val="3230355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CC681B-0C3A-8FED-2DF4-B6B6F3578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EA4D86-3A29-26AD-B1DF-F2B6E66753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609" y="679731"/>
            <a:ext cx="4171994" cy="3736540"/>
          </a:xfrm>
        </p:spPr>
        <p:txBody>
          <a:bodyPr>
            <a:normAutofit/>
          </a:bodyPr>
          <a:lstStyle/>
          <a:p>
            <a:pPr algn="l"/>
            <a:r>
              <a:rPr lang="en-US"/>
              <a:t>Data Modeling (Star Schema)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2BCBA3-3A1A-DC20-A9E7-C0D3AB15B5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609" y="4685288"/>
            <a:ext cx="4171994" cy="1035781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1700" b="1">
                <a:ea typeface="+mn-lt"/>
                <a:cs typeface="+mn-lt"/>
              </a:rPr>
              <a:t>Grain:</a:t>
            </a:r>
            <a:r>
              <a:rPr lang="en-US" sz="1700">
                <a:ea typeface="+mn-lt"/>
                <a:cs typeface="+mn-lt"/>
              </a:rPr>
              <a:t> One row = one financial transaction made by one customer using one card at one merchant at one point in time. 13.3 million rows. Never aggregated</a:t>
            </a:r>
            <a:endParaRPr lang="en-US" sz="17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A55A216-B8E8-C8C1-AF60-0F96C5AAB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1920" y="696865"/>
            <a:ext cx="6001860" cy="547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146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F87750-A79D-89A6-CE59-5058DE398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9E5891-2D44-756A-1AB5-F88F18B09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Orchestration- One Trigger, End-to-end 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B429C1-FED2-472A-6B72-1677B60675A9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All 5 Copy activities run in parallel → cleaning waits for all 5 to succeed → feature engineering runs → star schema runs.</a:t>
            </a:r>
          </a:p>
        </p:txBody>
      </p:sp>
      <p:pic>
        <p:nvPicPr>
          <p:cNvPr id="4" name="Picture 3" descr="A diagram of a computer&#10;&#10;AI-generated content may be incorrect.">
            <a:extLst>
              <a:ext uri="{FF2B5EF4-FFF2-40B4-BE49-F238E27FC236}">
                <a16:creationId xmlns:a16="http://schemas.microsoft.com/office/drawing/2014/main" id="{5AFA5099-462A-F731-C63C-CA6C587DF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435551"/>
            <a:ext cx="6903720" cy="398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874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AAC3D-BB49-297E-4341-6C334C127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60BE8-6DEB-47A1-F1F8-064D0BF69F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9831" y="218295"/>
            <a:ext cx="9404958" cy="1155874"/>
          </a:xfrm>
        </p:spPr>
        <p:txBody>
          <a:bodyPr/>
          <a:lstStyle/>
          <a:p>
            <a:r>
              <a:rPr lang="en-US"/>
              <a:t>Data Storage (Warehouse)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40D7E1-B3EC-377C-0B3C-DA70F9C03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0365" y="1560276"/>
            <a:ext cx="9369336" cy="100115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>
                <a:ea typeface="+mn-lt"/>
                <a:cs typeface="+mn-lt"/>
              </a:rPr>
              <a:t>Data stored in Synapse as external tables</a:t>
            </a:r>
          </a:p>
          <a:p>
            <a:pPr algn="l"/>
            <a:r>
              <a:rPr lang="en-US">
                <a:ea typeface="+mn-lt"/>
                <a:cs typeface="+mn-lt"/>
              </a:rPr>
              <a:t>Data read directly from curated Parquet files</a:t>
            </a:r>
            <a:endParaRPr lang="en-US"/>
          </a:p>
          <a:p>
            <a:pPr algn="l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28DED3E-6DCE-437D-7451-C3A3E2F4A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4345" y="2167425"/>
            <a:ext cx="3933825" cy="421005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3B5AB46-E838-D642-FC31-AABB7A3D4B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392096"/>
              </p:ext>
            </p:extLst>
          </p:nvPr>
        </p:nvGraphicFramePr>
        <p:xfrm>
          <a:off x="467032" y="2737301"/>
          <a:ext cx="6474134" cy="27110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37067">
                  <a:extLst>
                    <a:ext uri="{9D8B030D-6E8A-4147-A177-3AD203B41FA5}">
                      <a16:colId xmlns:a16="http://schemas.microsoft.com/office/drawing/2014/main" val="3755555259"/>
                    </a:ext>
                  </a:extLst>
                </a:gridCol>
                <a:gridCol w="3237067">
                  <a:extLst>
                    <a:ext uri="{9D8B030D-6E8A-4147-A177-3AD203B41FA5}">
                      <a16:colId xmlns:a16="http://schemas.microsoft.com/office/drawing/2014/main" val="2710977280"/>
                    </a:ext>
                  </a:extLst>
                </a:gridCol>
              </a:tblGrid>
              <a:tr h="451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Source in ADLS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170170"/>
                  </a:ext>
                </a:extLst>
              </a:tr>
              <a:tr h="451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fact_transactions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curated/fact_transactions/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4326968"/>
                  </a:ext>
                </a:extLst>
              </a:tr>
              <a:tr h="451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dim_customer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curated/dim_customer/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3607461"/>
                  </a:ext>
                </a:extLst>
              </a:tr>
              <a:tr h="451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dim_card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curated/dim_card/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9281547"/>
                  </a:ext>
                </a:extLst>
              </a:tr>
              <a:tr h="451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dim_merchant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curated/dim_merchant/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9807958"/>
                  </a:ext>
                </a:extLst>
              </a:tr>
              <a:tr h="451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dim_time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curated/dim_time/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7819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09365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D5BCD3-02F8-2A5D-08C8-55425963D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Triangle 27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3" y="623275"/>
            <a:ext cx="401217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A22704-8D8D-9303-88BB-F255D8F0A1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52497" y="1056640"/>
            <a:ext cx="3197660" cy="312574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6700" kern="1200">
                <a:latin typeface="+mj-lt"/>
                <a:ea typeface="+mj-ea"/>
                <a:cs typeface="+mj-cs"/>
              </a:rPr>
              <a:t>Data Analysis</a:t>
            </a:r>
            <a:endParaRPr lang="en-US" sz="6700" kern="1200">
              <a:latin typeface="+mj-lt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7DE1549-169D-0B8B-B79F-ACF5430A41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904375"/>
              </p:ext>
            </p:extLst>
          </p:nvPr>
        </p:nvGraphicFramePr>
        <p:xfrm>
          <a:off x="621675" y="1588591"/>
          <a:ext cx="6589538" cy="3803625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182642">
                  <a:extLst>
                    <a:ext uri="{9D8B030D-6E8A-4147-A177-3AD203B41FA5}">
                      <a16:colId xmlns:a16="http://schemas.microsoft.com/office/drawing/2014/main" val="3172708217"/>
                    </a:ext>
                  </a:extLst>
                </a:gridCol>
                <a:gridCol w="1416992">
                  <a:extLst>
                    <a:ext uri="{9D8B030D-6E8A-4147-A177-3AD203B41FA5}">
                      <a16:colId xmlns:a16="http://schemas.microsoft.com/office/drawing/2014/main" val="596972312"/>
                    </a:ext>
                  </a:extLst>
                </a:gridCol>
                <a:gridCol w="2989904">
                  <a:extLst>
                    <a:ext uri="{9D8B030D-6E8A-4147-A177-3AD203B41FA5}">
                      <a16:colId xmlns:a16="http://schemas.microsoft.com/office/drawing/2014/main" val="380703351"/>
                    </a:ext>
                  </a:extLst>
                </a:gridCol>
              </a:tblGrid>
              <a:tr h="34277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u="none" strike="noStrike" cap="none" spc="0" noProof="0">
                          <a:solidFill>
                            <a:srgbClr val="000000"/>
                          </a:solidFill>
                        </a:rPr>
                        <a:t>View </a:t>
                      </a:r>
                      <a:endParaRPr lang="en-US" sz="1300" cap="none" spc="0">
                        <a:solidFill>
                          <a:srgbClr val="000000"/>
                        </a:solidFill>
                      </a:endParaRPr>
                    </a:p>
                  </a:txBody>
                  <a:tcPr marL="37025" marR="37025" marT="37025" marB="74051"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u="none" strike="noStrike" cap="none" spc="0" noProof="0">
                          <a:solidFill>
                            <a:srgbClr val="000000"/>
                          </a:solidFill>
                        </a:rPr>
                        <a:t>Stakeholder</a:t>
                      </a:r>
                      <a:endParaRPr lang="en-US" sz="1300" cap="none" spc="0">
                        <a:solidFill>
                          <a:srgbClr val="000000"/>
                        </a:solidFill>
                      </a:endParaRPr>
                    </a:p>
                  </a:txBody>
                  <a:tcPr marL="37025" marR="37025" marT="37025" marB="74051"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u="none" strike="noStrike" cap="none" spc="0" noProof="0">
                          <a:solidFill>
                            <a:srgbClr val="000000"/>
                          </a:solidFill>
                        </a:rPr>
                        <a:t>What It Returns</a:t>
                      </a:r>
                      <a:endParaRPr lang="en-US" sz="1300" cap="none" spc="0">
                        <a:solidFill>
                          <a:srgbClr val="000000"/>
                        </a:solidFill>
                      </a:endParaRPr>
                    </a:p>
                  </a:txBody>
                  <a:tcPr marL="37025" marR="37025" marT="37025" marB="74051" anchor="b"/>
                </a:tc>
                <a:extLst>
                  <a:ext uri="{0D108BD9-81ED-4DB2-BD59-A6C34878D82A}">
                    <a16:rowId xmlns:a16="http://schemas.microsoft.com/office/drawing/2014/main" val="3653860920"/>
                  </a:ext>
                </a:extLst>
              </a:tr>
              <a:tr h="4359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u="none" strike="noStrike" cap="none" spc="0" noProof="0" err="1">
                          <a:solidFill>
                            <a:srgbClr val="000000"/>
                          </a:solidFill>
                        </a:rPr>
                        <a:t>vw_monthly_transaction_trends</a:t>
                      </a:r>
                      <a:endParaRPr lang="en-US" sz="1000" cap="none" spc="0">
                        <a:solidFill>
                          <a:srgbClr val="000000"/>
                        </a:solidFill>
                      </a:endParaRPr>
                    </a:p>
                  </a:txBody>
                  <a:tcPr marL="37025" marR="37025" marT="37025" marB="74051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0" noProof="0">
                          <a:solidFill>
                            <a:srgbClr val="000000"/>
                          </a:solidFill>
                        </a:rPr>
                        <a:t>Bank Manager</a:t>
                      </a:r>
                    </a:p>
                    <a:p>
                      <a:pPr lvl="0">
                        <a:buNone/>
                      </a:pPr>
                      <a:endParaRPr lang="en-US" sz="1000" cap="none" spc="0">
                        <a:solidFill>
                          <a:srgbClr val="000000"/>
                        </a:solidFill>
                      </a:endParaRPr>
                    </a:p>
                  </a:txBody>
                  <a:tcPr marL="37025" marR="37025" marT="37025" marB="74051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u="none" strike="noStrike" cap="none" spc="0" noProof="0">
                          <a:solidFill>
                            <a:srgbClr val="000000"/>
                          </a:solidFill>
                        </a:rPr>
                        <a:t>Monthly volume and spend across the decade</a:t>
                      </a:r>
                      <a:endParaRPr lang="en-US" sz="1000" cap="none" spc="0">
                        <a:solidFill>
                          <a:srgbClr val="000000"/>
                        </a:solidFill>
                      </a:endParaRPr>
                    </a:p>
                  </a:txBody>
                  <a:tcPr marL="37025" marR="37025" marT="37025" marB="74051"/>
                </a:tc>
                <a:extLst>
                  <a:ext uri="{0D108BD9-81ED-4DB2-BD59-A6C34878D82A}">
                    <a16:rowId xmlns:a16="http://schemas.microsoft.com/office/drawing/2014/main" val="1722618704"/>
                  </a:ext>
                </a:extLst>
              </a:tr>
              <a:tr h="4359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u="none" strike="noStrike" cap="none" spc="0" noProof="0" err="1">
                          <a:solidFill>
                            <a:srgbClr val="000000"/>
                          </a:solidFill>
                        </a:rPr>
                        <a:t>vw_card_and_merchant_summary</a:t>
                      </a:r>
                      <a:endParaRPr lang="en-US" sz="1000" cap="none" spc="0">
                        <a:solidFill>
                          <a:srgbClr val="000000"/>
                        </a:solidFill>
                      </a:endParaRPr>
                    </a:p>
                  </a:txBody>
                  <a:tcPr marL="37025" marR="37025" marT="37025" marB="74051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0" noProof="0">
                          <a:solidFill>
                            <a:srgbClr val="000000"/>
                          </a:solidFill>
                        </a:rPr>
                        <a:t>Bank Manager</a:t>
                      </a:r>
                    </a:p>
                    <a:p>
                      <a:pPr lvl="0">
                        <a:buNone/>
                      </a:pPr>
                      <a:endParaRPr lang="en-US" sz="1000" cap="none" spc="0">
                        <a:solidFill>
                          <a:srgbClr val="000000"/>
                        </a:solidFill>
                      </a:endParaRPr>
                    </a:p>
                  </a:txBody>
                  <a:tcPr marL="37025" marR="37025" marT="37025" marB="74051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u="none" strike="noStrike" cap="none" spc="0" noProof="0">
                          <a:solidFill>
                            <a:srgbClr val="000000"/>
                          </a:solidFill>
                        </a:rPr>
                        <a:t>Card usage breakdown and top merchants</a:t>
                      </a:r>
                      <a:endParaRPr lang="en-US" sz="1000" cap="none" spc="0">
                        <a:solidFill>
                          <a:srgbClr val="000000"/>
                        </a:solidFill>
                      </a:endParaRPr>
                    </a:p>
                  </a:txBody>
                  <a:tcPr marL="37025" marR="37025" marT="37025" marB="74051"/>
                </a:tc>
                <a:extLst>
                  <a:ext uri="{0D108BD9-81ED-4DB2-BD59-A6C34878D82A}">
                    <a16:rowId xmlns:a16="http://schemas.microsoft.com/office/drawing/2014/main" val="693960220"/>
                  </a:ext>
                </a:extLst>
              </a:tr>
              <a:tr h="435979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0" noProof="0" err="1">
                          <a:solidFill>
                            <a:srgbClr val="000000"/>
                          </a:solidFill>
                        </a:rPr>
                        <a:t>vw_busiest_periods</a:t>
                      </a:r>
                      <a:endParaRPr lang="en-US" sz="1000" u="none" strike="noStrike" cap="none" spc="0" noProof="0">
                        <a:solidFill>
                          <a:srgbClr val="000000"/>
                        </a:solidFill>
                      </a:endParaRPr>
                    </a:p>
                    <a:p>
                      <a:pPr lvl="0">
                        <a:buNone/>
                      </a:pPr>
                      <a:endParaRPr lang="en-US" sz="1000" cap="none" spc="0">
                        <a:solidFill>
                          <a:srgbClr val="000000"/>
                        </a:solidFill>
                      </a:endParaRPr>
                    </a:p>
                  </a:txBody>
                  <a:tcPr marL="37025" marR="37025" marT="37025" marB="74051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0" noProof="0">
                          <a:solidFill>
                            <a:srgbClr val="000000"/>
                          </a:solidFill>
                        </a:rPr>
                        <a:t>Bank Manager + Fraud</a:t>
                      </a:r>
                    </a:p>
                    <a:p>
                      <a:pPr lvl="0">
                        <a:buNone/>
                      </a:pPr>
                      <a:endParaRPr lang="en-US" sz="1000" cap="none" spc="0">
                        <a:solidFill>
                          <a:srgbClr val="000000"/>
                        </a:solidFill>
                      </a:endParaRPr>
                    </a:p>
                  </a:txBody>
                  <a:tcPr marL="37025" marR="37025" marT="37025" marB="74051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pc="0" noProof="0">
                          <a:solidFill>
                            <a:srgbClr val="000000"/>
                          </a:solidFill>
                        </a:rPr>
                        <a:t>Peak transaction days and hours</a:t>
                      </a:r>
                    </a:p>
                    <a:p>
                      <a:pPr lvl="0">
                        <a:buNone/>
                      </a:pPr>
                      <a:endParaRPr lang="en-US" sz="1000" cap="none" spc="0">
                        <a:solidFill>
                          <a:srgbClr val="000000"/>
                        </a:solidFill>
                      </a:endParaRPr>
                    </a:p>
                  </a:txBody>
                  <a:tcPr marL="37025" marR="37025" marT="37025" marB="74051"/>
                </a:tc>
                <a:extLst>
                  <a:ext uri="{0D108BD9-81ED-4DB2-BD59-A6C34878D82A}">
                    <a16:rowId xmlns:a16="http://schemas.microsoft.com/office/drawing/2014/main" val="2789439514"/>
                  </a:ext>
                </a:extLst>
              </a:tr>
              <a:tr h="28950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u="none" strike="noStrike" cap="none" spc="0" noProof="0" err="1">
                          <a:solidFill>
                            <a:srgbClr val="000000"/>
                          </a:solidFill>
                        </a:rPr>
                        <a:t>vw_customer_spending_by_segment</a:t>
                      </a:r>
                      <a:endParaRPr lang="en-US" sz="1000" cap="none" spc="0">
                        <a:solidFill>
                          <a:srgbClr val="000000"/>
                        </a:solidFill>
                      </a:endParaRPr>
                    </a:p>
                  </a:txBody>
                  <a:tcPr marL="37025" marR="37025" marT="37025" marB="74051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u="none" strike="noStrike" cap="none" spc="0" noProof="0">
                          <a:solidFill>
                            <a:srgbClr val="000000"/>
                          </a:solidFill>
                        </a:rPr>
                        <a:t>Marketing</a:t>
                      </a:r>
                      <a:endParaRPr lang="en-US" sz="1000" cap="none" spc="0">
                        <a:solidFill>
                          <a:srgbClr val="000000"/>
                        </a:solidFill>
                      </a:endParaRPr>
                    </a:p>
                  </a:txBody>
                  <a:tcPr marL="37025" marR="37025" marT="37025" marB="74051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u="none" strike="noStrike" cap="none" spc="0" noProof="0">
                          <a:solidFill>
                            <a:srgbClr val="000000"/>
                          </a:solidFill>
                        </a:rPr>
                        <a:t>Spend patterns by income and age group</a:t>
                      </a:r>
                      <a:endParaRPr lang="en-US" sz="1000" cap="none" spc="0">
                        <a:solidFill>
                          <a:srgbClr val="000000"/>
                        </a:solidFill>
                      </a:endParaRPr>
                    </a:p>
                  </a:txBody>
                  <a:tcPr marL="37025" marR="37025" marT="37025" marB="74051"/>
                </a:tc>
                <a:extLst>
                  <a:ext uri="{0D108BD9-81ED-4DB2-BD59-A6C34878D82A}">
                    <a16:rowId xmlns:a16="http://schemas.microsoft.com/office/drawing/2014/main" val="3258740402"/>
                  </a:ext>
                </a:extLst>
              </a:tr>
              <a:tr h="28950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u="none" strike="noStrike" cap="none" spc="0" noProof="0" err="1">
                          <a:solidFill>
                            <a:srgbClr val="000000"/>
                          </a:solidFill>
                        </a:rPr>
                        <a:t>vw_credit_health_and_errors</a:t>
                      </a:r>
                      <a:endParaRPr lang="en-US" sz="1000" cap="none" spc="0">
                        <a:solidFill>
                          <a:srgbClr val="000000"/>
                        </a:solidFill>
                      </a:endParaRPr>
                    </a:p>
                  </a:txBody>
                  <a:tcPr marL="37025" marR="37025" marT="37025" marB="74051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u="none" strike="noStrike" cap="none" spc="0" noProof="0">
                          <a:solidFill>
                            <a:srgbClr val="000000"/>
                          </a:solidFill>
                        </a:rPr>
                        <a:t>Credit Risk</a:t>
                      </a:r>
                      <a:endParaRPr lang="en-US" sz="1000" cap="none" spc="0">
                        <a:solidFill>
                          <a:srgbClr val="000000"/>
                        </a:solidFill>
                      </a:endParaRPr>
                    </a:p>
                  </a:txBody>
                  <a:tcPr marL="37025" marR="37025" marT="37025" marB="74051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u="none" strike="noStrike" cap="none" spc="0" noProof="0">
                          <a:solidFill>
                            <a:srgbClr val="000000"/>
                          </a:solidFill>
                        </a:rPr>
                        <a:t>Error rates and debt profiles by customer</a:t>
                      </a:r>
                      <a:endParaRPr lang="en-US" sz="1000" cap="none" spc="0">
                        <a:solidFill>
                          <a:srgbClr val="000000"/>
                        </a:solidFill>
                      </a:endParaRPr>
                    </a:p>
                  </a:txBody>
                  <a:tcPr marL="37025" marR="37025" marT="37025" marB="74051"/>
                </a:tc>
                <a:extLst>
                  <a:ext uri="{0D108BD9-81ED-4DB2-BD59-A6C34878D82A}">
                    <a16:rowId xmlns:a16="http://schemas.microsoft.com/office/drawing/2014/main" val="4030075465"/>
                  </a:ext>
                </a:extLst>
              </a:tr>
              <a:tr h="28950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u="none" strike="noStrike" cap="none" spc="0" noProof="0" err="1">
                          <a:solidFill>
                            <a:srgbClr val="000000"/>
                          </a:solidFill>
                        </a:rPr>
                        <a:t>vw_fraud_hotspots</a:t>
                      </a:r>
                      <a:endParaRPr lang="en-US" sz="1000" cap="none" spc="0">
                        <a:solidFill>
                          <a:srgbClr val="000000"/>
                        </a:solidFill>
                      </a:endParaRPr>
                    </a:p>
                  </a:txBody>
                  <a:tcPr marL="37025" marR="37025" marT="37025" marB="74051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u="none" strike="noStrike" cap="none" spc="0" noProof="0">
                          <a:solidFill>
                            <a:srgbClr val="000000"/>
                          </a:solidFill>
                        </a:rPr>
                        <a:t>Fraud Team</a:t>
                      </a:r>
                      <a:endParaRPr lang="en-US" sz="1000" cap="none" spc="0">
                        <a:solidFill>
                          <a:srgbClr val="000000"/>
                        </a:solidFill>
                      </a:endParaRPr>
                    </a:p>
                  </a:txBody>
                  <a:tcPr marL="37025" marR="37025" marT="37025" marB="74051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u="none" strike="noStrike" cap="none" spc="0" noProof="0">
                          <a:solidFill>
                            <a:srgbClr val="000000"/>
                          </a:solidFill>
                        </a:rPr>
                        <a:t>Fraud concentration by state and merchant category</a:t>
                      </a:r>
                      <a:endParaRPr lang="en-US" sz="1000" cap="none" spc="0">
                        <a:solidFill>
                          <a:srgbClr val="000000"/>
                        </a:solidFill>
                      </a:endParaRPr>
                    </a:p>
                  </a:txBody>
                  <a:tcPr marL="37025" marR="37025" marT="37025" marB="74051"/>
                </a:tc>
                <a:extLst>
                  <a:ext uri="{0D108BD9-81ED-4DB2-BD59-A6C34878D82A}">
                    <a16:rowId xmlns:a16="http://schemas.microsoft.com/office/drawing/2014/main" val="324634489"/>
                  </a:ext>
                </a:extLst>
              </a:tr>
              <a:tr h="28950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u="none" strike="noStrike" cap="none" spc="0" noProof="0" err="1">
                          <a:solidFill>
                            <a:srgbClr val="000000"/>
                          </a:solidFill>
                        </a:rPr>
                        <a:t>vw_fraud_analysis</a:t>
                      </a:r>
                      <a:endParaRPr lang="en-US" sz="1000" cap="none" spc="0">
                        <a:solidFill>
                          <a:srgbClr val="000000"/>
                        </a:solidFill>
                      </a:endParaRPr>
                    </a:p>
                  </a:txBody>
                  <a:tcPr marL="37025" marR="37025" marT="37025" marB="74051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u="none" strike="noStrike" cap="none" spc="0" noProof="0">
                          <a:solidFill>
                            <a:srgbClr val="000000"/>
                          </a:solidFill>
                        </a:rPr>
                        <a:t>Fraud Team</a:t>
                      </a:r>
                      <a:endParaRPr lang="en-US" sz="1000" cap="none" spc="0">
                        <a:solidFill>
                          <a:srgbClr val="000000"/>
                        </a:solidFill>
                      </a:endParaRPr>
                    </a:p>
                  </a:txBody>
                  <a:tcPr marL="37025" marR="37025" marT="37025" marB="74051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u="none" strike="noStrike" cap="none" spc="0" noProof="0">
                          <a:solidFill>
                            <a:srgbClr val="000000"/>
                          </a:solidFill>
                        </a:rPr>
                        <a:t>Fraud by transaction method and time of day</a:t>
                      </a:r>
                      <a:endParaRPr lang="en-US" sz="1000" cap="none" spc="0">
                        <a:solidFill>
                          <a:srgbClr val="000000"/>
                        </a:solidFill>
                      </a:endParaRPr>
                    </a:p>
                  </a:txBody>
                  <a:tcPr marL="37025" marR="37025" marT="37025" marB="74051"/>
                </a:tc>
                <a:extLst>
                  <a:ext uri="{0D108BD9-81ED-4DB2-BD59-A6C34878D82A}">
                    <a16:rowId xmlns:a16="http://schemas.microsoft.com/office/drawing/2014/main" val="3466613048"/>
                  </a:ext>
                </a:extLst>
              </a:tr>
              <a:tr h="28950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u="none" strike="noStrike" cap="none" spc="0" noProof="0" err="1">
                          <a:solidFill>
                            <a:srgbClr val="000000"/>
                          </a:solidFill>
                        </a:rPr>
                        <a:t>vw_churn_risk_segments</a:t>
                      </a:r>
                      <a:endParaRPr lang="en-US" sz="1000" cap="none" spc="0">
                        <a:solidFill>
                          <a:srgbClr val="000000"/>
                        </a:solidFill>
                      </a:endParaRPr>
                    </a:p>
                  </a:txBody>
                  <a:tcPr marL="37025" marR="37025" marT="37025" marB="74051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u="none" strike="noStrike" cap="none" spc="0" noProof="0">
                          <a:solidFill>
                            <a:srgbClr val="000000"/>
                          </a:solidFill>
                        </a:rPr>
                        <a:t>Marketing + Retention</a:t>
                      </a:r>
                      <a:endParaRPr lang="en-US" sz="1000" cap="none" spc="0">
                        <a:solidFill>
                          <a:srgbClr val="000000"/>
                        </a:solidFill>
                      </a:endParaRPr>
                    </a:p>
                  </a:txBody>
                  <a:tcPr marL="37025" marR="37025" marT="37025" marB="74051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u="none" strike="noStrike" cap="none" spc="0" noProof="0">
                          <a:solidFill>
                            <a:srgbClr val="000000"/>
                          </a:solidFill>
                        </a:rPr>
                        <a:t>K-Means segment assignments and risk signals</a:t>
                      </a:r>
                      <a:endParaRPr lang="en-US" sz="1000" cap="none" spc="0">
                        <a:solidFill>
                          <a:srgbClr val="000000"/>
                        </a:solidFill>
                      </a:endParaRPr>
                    </a:p>
                  </a:txBody>
                  <a:tcPr marL="37025" marR="37025" marT="37025" marB="74051"/>
                </a:tc>
                <a:extLst>
                  <a:ext uri="{0D108BD9-81ED-4DB2-BD59-A6C34878D82A}">
                    <a16:rowId xmlns:a16="http://schemas.microsoft.com/office/drawing/2014/main" val="2998861417"/>
                  </a:ext>
                </a:extLst>
              </a:tr>
              <a:tr h="28950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u="none" strike="noStrike" cap="none" spc="0" noProof="0" err="1">
                          <a:solidFill>
                            <a:srgbClr val="000000"/>
                          </a:solidFill>
                        </a:rPr>
                        <a:t>vw_retention_priority</a:t>
                      </a:r>
                      <a:endParaRPr lang="en-US" sz="1000" cap="none" spc="0">
                        <a:solidFill>
                          <a:srgbClr val="000000"/>
                        </a:solidFill>
                      </a:endParaRPr>
                    </a:p>
                  </a:txBody>
                  <a:tcPr marL="37025" marR="37025" marT="37025" marB="74051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u="none" strike="noStrike" cap="none" spc="0" noProof="0">
                          <a:solidFill>
                            <a:srgbClr val="000000"/>
                          </a:solidFill>
                        </a:rPr>
                        <a:t>Retention</a:t>
                      </a:r>
                      <a:endParaRPr lang="en-US" sz="1000" cap="none" spc="0">
                        <a:solidFill>
                          <a:srgbClr val="000000"/>
                        </a:solidFill>
                      </a:endParaRPr>
                    </a:p>
                  </a:txBody>
                  <a:tcPr marL="37025" marR="37025" marT="37025" marB="74051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u="none" strike="noStrike" cap="none" spc="0" noProof="0">
                          <a:solidFill>
                            <a:srgbClr val="000000"/>
                          </a:solidFill>
                        </a:rPr>
                        <a:t>Voluntary </a:t>
                      </a:r>
                      <a:r>
                        <a:rPr lang="en-US" sz="1000" u="none" strike="noStrike" cap="none" spc="0" noProof="0" err="1">
                          <a:solidFill>
                            <a:srgbClr val="000000"/>
                          </a:solidFill>
                        </a:rPr>
                        <a:t>disengager</a:t>
                      </a:r>
                      <a:r>
                        <a:rPr lang="en-US" sz="1000" u="none" strike="noStrike" cap="none" spc="0" noProof="0">
                          <a:solidFill>
                            <a:srgbClr val="000000"/>
                          </a:solidFill>
                        </a:rPr>
                        <a:t> customers ranked by inactivity</a:t>
                      </a:r>
                      <a:endParaRPr lang="en-US" sz="1000" cap="none" spc="0">
                        <a:solidFill>
                          <a:srgbClr val="000000"/>
                        </a:solidFill>
                      </a:endParaRPr>
                    </a:p>
                  </a:txBody>
                  <a:tcPr marL="37025" marR="37025" marT="37025" marB="74051"/>
                </a:tc>
                <a:extLst>
                  <a:ext uri="{0D108BD9-81ED-4DB2-BD59-A6C34878D82A}">
                    <a16:rowId xmlns:a16="http://schemas.microsoft.com/office/drawing/2014/main" val="195437672"/>
                  </a:ext>
                </a:extLst>
              </a:tr>
              <a:tr h="28950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u="none" strike="noStrike" cap="none" spc="0" noProof="0" err="1">
                          <a:solidFill>
                            <a:srgbClr val="000000"/>
                          </a:solidFill>
                        </a:rPr>
                        <a:t>vw_fraud_customer_overlap</a:t>
                      </a:r>
                      <a:endParaRPr lang="en-US" sz="1000" cap="none" spc="0">
                        <a:solidFill>
                          <a:srgbClr val="000000"/>
                        </a:solidFill>
                      </a:endParaRPr>
                    </a:p>
                  </a:txBody>
                  <a:tcPr marL="37025" marR="37025" marT="37025" marB="74051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u="none" strike="noStrike" cap="none" spc="0" noProof="0">
                          <a:solidFill>
                            <a:srgbClr val="000000"/>
                          </a:solidFill>
                        </a:rPr>
                        <a:t>Fraud + Risk</a:t>
                      </a:r>
                      <a:endParaRPr lang="en-US" sz="1000" cap="none" spc="0">
                        <a:solidFill>
                          <a:srgbClr val="000000"/>
                        </a:solidFill>
                      </a:endParaRPr>
                    </a:p>
                  </a:txBody>
                  <a:tcPr marL="37025" marR="37025" marT="37025" marB="74051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u="none" strike="noStrike" cap="none" spc="0" noProof="0">
                          <a:solidFill>
                            <a:srgbClr val="000000"/>
                          </a:solidFill>
                        </a:rPr>
                        <a:t>Customers appearing in both fraud and stress signals</a:t>
                      </a:r>
                      <a:endParaRPr lang="en-US" sz="1000" cap="none" spc="0">
                        <a:solidFill>
                          <a:srgbClr val="000000"/>
                        </a:solidFill>
                      </a:endParaRPr>
                    </a:p>
                  </a:txBody>
                  <a:tcPr marL="37025" marR="37025" marT="37025" marB="74051"/>
                </a:tc>
                <a:extLst>
                  <a:ext uri="{0D108BD9-81ED-4DB2-BD59-A6C34878D82A}">
                    <a16:rowId xmlns:a16="http://schemas.microsoft.com/office/drawing/2014/main" val="560636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60809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4231C1-2DD6-DBEC-341F-0A0DB67E8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B577FF9-3543-4875-815D-3D87BD8A2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BB8748-47B9-0E25-7719-870F1A5910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4815" y="798703"/>
            <a:ext cx="5221185" cy="3072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ea typeface="+mj-lt"/>
                <a:cs typeface="+mj-lt"/>
              </a:rPr>
              <a:t>ML Component 1: Customer Segmentation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212CA0-9094-ECD1-033A-4213095655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0148" y="3962792"/>
            <a:ext cx="5221185" cy="21021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300" b="1">
                <a:ea typeface="+mn-lt"/>
                <a:cs typeface="+mn-lt"/>
              </a:rPr>
              <a:t>The Churn Finding:</a:t>
            </a:r>
            <a:r>
              <a:rPr lang="en-US" sz="1300">
                <a:ea typeface="+mn-lt"/>
                <a:cs typeface="+mn-lt"/>
              </a:rPr>
              <a:t> "We applied five methodologies to derive a churn label — 60-day inactivity threshold, 180-day threshold, transaction frequency comparison, K-Means k=2, and PCA + clustering. None produced a viable churn label. EDA had already shown why: the dataset exhibits consistent decade-long growth with no natural disengagement patterns. The data was designed for fraud detection, not churn prediction</a:t>
            </a:r>
          </a:p>
          <a:p>
            <a:r>
              <a:rPr lang="en-US" sz="1300" b="1">
                <a:ea typeface="+mn-lt"/>
                <a:cs typeface="+mn-lt"/>
              </a:rPr>
              <a:t>The Segmentation Result:</a:t>
            </a:r>
            <a:r>
              <a:rPr lang="en-US" sz="1300">
                <a:ea typeface="+mn-lt"/>
                <a:cs typeface="+mn-lt"/>
              </a:rPr>
              <a:t> K-Means k=3 revealed three actionable customer profiles:</a:t>
            </a:r>
            <a:endParaRPr lang="en-US" sz="130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F5569EEC-E12F-4856-B407-02B2813A4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4059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CF860788-3A6A-45A3-B3F1-06F159665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67336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DF1E3393-B852-4883-B778-ED352511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32259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9853D09-4205-4CC7-83EB-288E886AC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8440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D040B79-3E73-4A31-840D-D6B9C9FDF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7511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156C6AE5-3F8B-42AC-9EA4-1B686A11E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3820" y="5835650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5FCB9D2-EF18-2038-A1FC-95E563D536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949063"/>
              </p:ext>
            </p:extLst>
          </p:nvPr>
        </p:nvGraphicFramePr>
        <p:xfrm>
          <a:off x="6651243" y="1299766"/>
          <a:ext cx="4939506" cy="38755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3868">
                  <a:extLst>
                    <a:ext uri="{9D8B030D-6E8A-4147-A177-3AD203B41FA5}">
                      <a16:colId xmlns:a16="http://schemas.microsoft.com/office/drawing/2014/main" val="943231088"/>
                    </a:ext>
                  </a:extLst>
                </a:gridCol>
                <a:gridCol w="1034136">
                  <a:extLst>
                    <a:ext uri="{9D8B030D-6E8A-4147-A177-3AD203B41FA5}">
                      <a16:colId xmlns:a16="http://schemas.microsoft.com/office/drawing/2014/main" val="1387899188"/>
                    </a:ext>
                  </a:extLst>
                </a:gridCol>
                <a:gridCol w="1546595">
                  <a:extLst>
                    <a:ext uri="{9D8B030D-6E8A-4147-A177-3AD203B41FA5}">
                      <a16:colId xmlns:a16="http://schemas.microsoft.com/office/drawing/2014/main" val="1617586226"/>
                    </a:ext>
                  </a:extLst>
                </a:gridCol>
                <a:gridCol w="1154907">
                  <a:extLst>
                    <a:ext uri="{9D8B030D-6E8A-4147-A177-3AD203B41FA5}">
                      <a16:colId xmlns:a16="http://schemas.microsoft.com/office/drawing/2014/main" val="3548129740"/>
                    </a:ext>
                  </a:extLst>
                </a:gridCol>
              </a:tblGrid>
              <a:tr h="306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Segment</a:t>
                      </a:r>
                    </a:p>
                  </a:txBody>
                  <a:tcPr marL="65647" marR="65647" marT="32824" marB="32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Size</a:t>
                      </a:r>
                    </a:p>
                  </a:txBody>
                  <a:tcPr marL="65647" marR="65647" marT="32824" marB="32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Key Signal</a:t>
                      </a:r>
                    </a:p>
                  </a:txBody>
                  <a:tcPr marL="65647" marR="65647" marT="32824" marB="32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Bank Action</a:t>
                      </a:r>
                    </a:p>
                  </a:txBody>
                  <a:tcPr marL="65647" marR="65647" marT="32824" marB="32824" anchor="ctr"/>
                </a:tc>
                <a:extLst>
                  <a:ext uri="{0D108BD9-81ED-4DB2-BD59-A6C34878D82A}">
                    <a16:rowId xmlns:a16="http://schemas.microsoft.com/office/drawing/2014/main" val="2039581658"/>
                  </a:ext>
                </a:extLst>
              </a:tr>
              <a:tr h="11216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Voluntary Disengagers</a:t>
                      </a:r>
                    </a:p>
                  </a:txBody>
                  <a:tcPr marL="65647" marR="65647" marT="32824" marB="32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429 customers (35%)</a:t>
                      </a:r>
                    </a:p>
                  </a:txBody>
                  <a:tcPr marL="65647" marR="65647" marT="32824" marB="32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38.5 days inactive · lowest transactions (7,409 avg) · low errors</a:t>
                      </a:r>
                    </a:p>
                  </a:txBody>
                  <a:tcPr marL="65647" marR="65647" marT="32824" marB="32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Proactive retention outreach before they leave</a:t>
                      </a:r>
                    </a:p>
                  </a:txBody>
                  <a:tcPr marL="65647" marR="65647" marT="32824" marB="32824" anchor="ctr"/>
                </a:tc>
                <a:extLst>
                  <a:ext uri="{0D108BD9-81ED-4DB2-BD59-A6C34878D82A}">
                    <a16:rowId xmlns:a16="http://schemas.microsoft.com/office/drawing/2014/main" val="62242201"/>
                  </a:ext>
                </a:extLst>
              </a:tr>
              <a:tr h="11216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Financially Stressed</a:t>
                      </a:r>
                    </a:p>
                  </a:txBody>
                  <a:tcPr marL="65647" marR="65647" marT="32824" marB="32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512 customers (42%)</a:t>
                      </a:r>
                    </a:p>
                  </a:txBody>
                  <a:tcPr marL="65647" marR="65647" marT="32824" marB="32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Almost zero inactivity · highest error rate · 114 avg Insufficient Balance errors</a:t>
                      </a:r>
                    </a:p>
                  </a:txBody>
                  <a:tcPr marL="65647" marR="65647" marT="32824" marB="32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Financial wellness products · credit limit review</a:t>
                      </a:r>
                    </a:p>
                  </a:txBody>
                  <a:tcPr marL="65647" marR="65647" marT="32824" marB="32824" anchor="ctr"/>
                </a:tc>
                <a:extLst>
                  <a:ext uri="{0D108BD9-81ED-4DB2-BD59-A6C34878D82A}">
                    <a16:rowId xmlns:a16="http://schemas.microsoft.com/office/drawing/2014/main" val="1566610547"/>
                  </a:ext>
                </a:extLst>
              </a:tr>
              <a:tr h="1325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Power Users</a:t>
                      </a:r>
                    </a:p>
                  </a:txBody>
                  <a:tcPr marL="65647" marR="65647" marT="32824" marB="32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278 customers (23%)</a:t>
                      </a:r>
                    </a:p>
                  </a:txBody>
                  <a:tcPr marL="65647" marR="65647" marT="32824" marB="32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Highest transactions (16,144 avg) · highest spend ($56.91 avg) · lowest fraud rate</a:t>
                      </a:r>
                    </a:p>
                  </a:txBody>
                  <a:tcPr marL="65647" marR="65647" marT="32824" marB="32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Loyalty rewards · premium card offers</a:t>
                      </a:r>
                    </a:p>
                  </a:txBody>
                  <a:tcPr marL="65647" marR="65647" marT="32824" marB="32824" anchor="ctr"/>
                </a:tc>
                <a:extLst>
                  <a:ext uri="{0D108BD9-81ED-4DB2-BD59-A6C34878D82A}">
                    <a16:rowId xmlns:a16="http://schemas.microsoft.com/office/drawing/2014/main" val="3737874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6262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AAD52C3-F510-4AD2-8B1D-7D8A574B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A49DEA-1C24-2B86-3B35-665DBDCC2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383" y="653924"/>
            <a:ext cx="5171299" cy="16599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ML Component 2: Fraud Detection</a:t>
            </a: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6380735-7C68-96BE-C4F5-2942016EA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85" y="2316283"/>
            <a:ext cx="5171299" cy="3286144"/>
          </a:xfrm>
          <a:prstGeom prst="rect">
            <a:avLst/>
          </a:prstGeom>
        </p:spPr>
      </p:pic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13D0B514-D710-8BBD-BF1F-6C49A7767499}"/>
              </a:ext>
            </a:extLst>
          </p:cNvPr>
          <p:cNvSpPr/>
          <p:nvPr/>
        </p:nvSpPr>
        <p:spPr>
          <a:xfrm>
            <a:off x="6182500" y="4460789"/>
            <a:ext cx="5130957" cy="1659925"/>
          </a:xfrm>
          <a:prstGeom prst="wedgeRoundRectCallou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900">
                <a:solidFill>
                  <a:schemeClr val="tx1"/>
                </a:solidFill>
              </a:rPr>
              <a:t>Fraud in this dataset is primarily geographic — where the transaction happens and whether it's in the customer's home state explains 63% of fraud prediction. Amount matters far less than location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DD82CB-89A7-391C-DFB1-CD9A7D51E3A4}"/>
              </a:ext>
            </a:extLst>
          </p:cNvPr>
          <p:cNvSpPr txBox="1"/>
          <p:nvPr/>
        </p:nvSpPr>
        <p:spPr>
          <a:xfrm>
            <a:off x="657385" y="5596695"/>
            <a:ext cx="5171299" cy="328614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300" b="1">
                <a:solidFill>
                  <a:srgbClr val="FFFFFF"/>
                </a:solidFill>
              </a:rPr>
              <a:t>feature importance:</a:t>
            </a:r>
          </a:p>
          <a:p>
            <a:pPr algn="ctr">
              <a:spcAft>
                <a:spcPts val="600"/>
              </a:spcAft>
            </a:pPr>
            <a:endParaRPr lang="en-US" sz="1300">
              <a:solidFill>
                <a:srgbClr val="FFFFFF"/>
              </a:solidFill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9D60434-9D3C-9D6D-7C89-21CB3235B8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8101801"/>
              </p:ext>
            </p:extLst>
          </p:nvPr>
        </p:nvGraphicFramePr>
        <p:xfrm>
          <a:off x="6182500" y="871204"/>
          <a:ext cx="5171301" cy="2884139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355105">
                  <a:extLst>
                    <a:ext uri="{9D8B030D-6E8A-4147-A177-3AD203B41FA5}">
                      <a16:colId xmlns:a16="http://schemas.microsoft.com/office/drawing/2014/main" val="1978626167"/>
                    </a:ext>
                  </a:extLst>
                </a:gridCol>
                <a:gridCol w="1446067">
                  <a:extLst>
                    <a:ext uri="{9D8B030D-6E8A-4147-A177-3AD203B41FA5}">
                      <a16:colId xmlns:a16="http://schemas.microsoft.com/office/drawing/2014/main" val="168149817"/>
                    </a:ext>
                  </a:extLst>
                </a:gridCol>
                <a:gridCol w="1190618">
                  <a:extLst>
                    <a:ext uri="{9D8B030D-6E8A-4147-A177-3AD203B41FA5}">
                      <a16:colId xmlns:a16="http://schemas.microsoft.com/office/drawing/2014/main" val="1727330451"/>
                    </a:ext>
                  </a:extLst>
                </a:gridCol>
                <a:gridCol w="1179511">
                  <a:extLst>
                    <a:ext uri="{9D8B030D-6E8A-4147-A177-3AD203B41FA5}">
                      <a16:colId xmlns:a16="http://schemas.microsoft.com/office/drawing/2014/main" val="3778905803"/>
                    </a:ext>
                  </a:extLst>
                </a:gridCol>
              </a:tblGrid>
              <a:tr h="751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Metric</a:t>
                      </a:r>
                    </a:p>
                  </a:txBody>
                  <a:tcPr marL="199917" marR="119950" marT="119950" marB="1199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Logistic Regression</a:t>
                      </a:r>
                    </a:p>
                  </a:txBody>
                  <a:tcPr marL="199917" marR="119950" marT="119950" marB="1199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Random Forest</a:t>
                      </a:r>
                    </a:p>
                  </a:txBody>
                  <a:tcPr marL="199917" marR="119950" marT="119950" marB="1199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Isolation Forest</a:t>
                      </a:r>
                    </a:p>
                  </a:txBody>
                  <a:tcPr marL="199917" marR="119950" marT="119950" marB="1199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663224"/>
                  </a:ext>
                </a:extLst>
              </a:tr>
              <a:tr h="4264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AUC-ROC</a:t>
                      </a:r>
                    </a:p>
                  </a:txBody>
                  <a:tcPr marL="199917" marR="103957" marT="103957" marB="1039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0.9522</a:t>
                      </a:r>
                    </a:p>
                  </a:txBody>
                  <a:tcPr marL="199917" marR="103957" marT="103957" marB="1039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0.9843</a:t>
                      </a:r>
                    </a:p>
                  </a:txBody>
                  <a:tcPr marL="199917" marR="103957" marT="103957" marB="1039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0.8627</a:t>
                      </a:r>
                    </a:p>
                  </a:txBody>
                  <a:tcPr marL="199917" marR="103957" marT="103957" marB="1039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394617"/>
                  </a:ext>
                </a:extLst>
              </a:tr>
              <a:tr h="4264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AUC-PR</a:t>
                      </a:r>
                    </a:p>
                  </a:txBody>
                  <a:tcPr marL="199917" marR="103957" marT="103957" marB="1039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0.1099</a:t>
                      </a:r>
                    </a:p>
                  </a:txBody>
                  <a:tcPr marL="199917" marR="103957" marT="103957" marB="1039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0.1887</a:t>
                      </a:r>
                    </a:p>
                  </a:txBody>
                  <a:tcPr marL="199917" marR="103957" marT="103957" marB="1039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0.4020</a:t>
                      </a:r>
                    </a:p>
                  </a:txBody>
                  <a:tcPr marL="199917" marR="103957" marT="103957" marB="1039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943481"/>
                  </a:ext>
                </a:extLst>
              </a:tr>
              <a:tr h="4264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Fraud Recall</a:t>
                      </a:r>
                    </a:p>
                  </a:txBody>
                  <a:tcPr marL="199917" marR="103957" marT="103957" marB="1039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92.1%</a:t>
                      </a:r>
                    </a:p>
                  </a:txBody>
                  <a:tcPr marL="199917" marR="103957" marT="103957" marB="1039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96.8%</a:t>
                      </a:r>
                    </a:p>
                  </a:txBody>
                  <a:tcPr marL="199917" marR="103957" marT="103957" marB="1039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1%</a:t>
                      </a:r>
                    </a:p>
                  </a:txBody>
                  <a:tcPr marL="199917" marR="103957" marT="103957" marB="1039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683686"/>
                  </a:ext>
                </a:extLst>
              </a:tr>
              <a:tr h="4264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False Alarms</a:t>
                      </a:r>
                    </a:p>
                  </a:txBody>
                  <a:tcPr marL="199917" marR="103957" marT="103957" marB="1039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336,311</a:t>
                      </a:r>
                    </a:p>
                  </a:txBody>
                  <a:tcPr marL="199917" marR="103957" marT="103957" marB="1039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83,221*</a:t>
                      </a:r>
                    </a:p>
                  </a:txBody>
                  <a:tcPr marL="199917" marR="103957" marT="103957" marB="1039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30</a:t>
                      </a:r>
                    </a:p>
                  </a:txBody>
                  <a:tcPr marL="199917" marR="103957" marT="103957" marB="1039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118626"/>
                  </a:ext>
                </a:extLst>
              </a:tr>
              <a:tr h="4264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Needs Labels</a:t>
                      </a:r>
                    </a:p>
                  </a:txBody>
                  <a:tcPr marL="199917" marR="103957" marT="103957" marB="1039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Yes</a:t>
                      </a:r>
                    </a:p>
                  </a:txBody>
                  <a:tcPr marL="199917" marR="103957" marT="103957" marB="1039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Yes</a:t>
                      </a:r>
                    </a:p>
                  </a:txBody>
                  <a:tcPr marL="199917" marR="103957" marT="103957" marB="1039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No</a:t>
                      </a:r>
                    </a:p>
                  </a:txBody>
                  <a:tcPr marL="199917" marR="103957" marT="103957" marB="10395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4693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75608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B2747C-0216-457A-74F8-4108ED1FB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>
                <a:ea typeface="+mj-lt"/>
                <a:cs typeface="+mj-lt"/>
              </a:rPr>
              <a:t>Layered Fraud Detection</a:t>
            </a:r>
            <a:endParaRPr lang="en-US" sz="500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3EC44-7A62-F06C-21F8-FEB7AEFCE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900">
                <a:ea typeface="+mn-lt"/>
                <a:cs typeface="+mn-lt"/>
              </a:rPr>
              <a:t>No single model is optimal for this problem. Random Forest catches known fraud patterns. Isolation Forest catches novel anomalies with near-zero false alarms. We combine both into one score.</a:t>
            </a:r>
          </a:p>
          <a:p>
            <a:r>
              <a:rPr lang="en-US" sz="1900" b="1">
                <a:ea typeface="+mn-lt"/>
                <a:cs typeface="+mn-lt"/>
              </a:rPr>
              <a:t>Combined score formula:</a:t>
            </a:r>
            <a:r>
              <a:rPr lang="en-US" sz="1900">
                <a:ea typeface="+mn-lt"/>
                <a:cs typeface="+mn-lt"/>
              </a:rPr>
              <a:t> </a:t>
            </a:r>
            <a:r>
              <a:rPr lang="en-US" sz="1900">
                <a:latin typeface="Consolas"/>
              </a:rPr>
              <a:t>Combined Score = (0.6 × RF probability) + (0.4 × IF anomaly score)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RF weighted higher — trained on labelled fraud data. IF weighted lower but adds genuine unsupervised signal for patterns RF has never seen.</a:t>
            </a:r>
            <a:endParaRPr lang="en-US" sz="1900"/>
          </a:p>
          <a:p>
            <a:endParaRPr lang="en-US" sz="19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8987A2-E4B3-1401-893D-4E341E865764}"/>
              </a:ext>
            </a:extLst>
          </p:cNvPr>
          <p:cNvSpPr txBox="1"/>
          <p:nvPr/>
        </p:nvSpPr>
        <p:spPr>
          <a:xfrm>
            <a:off x="5911437" y="1753349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 b="1"/>
              <a:t>Three-tier table: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642DE02-7CE5-7604-6247-20C11C5633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39441"/>
              </p:ext>
            </p:extLst>
          </p:nvPr>
        </p:nvGraphicFramePr>
        <p:xfrm>
          <a:off x="6099048" y="2370251"/>
          <a:ext cx="5588099" cy="3335626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945444">
                  <a:extLst>
                    <a:ext uri="{9D8B030D-6E8A-4147-A177-3AD203B41FA5}">
                      <a16:colId xmlns:a16="http://schemas.microsoft.com/office/drawing/2014/main" val="1907926969"/>
                    </a:ext>
                  </a:extLst>
                </a:gridCol>
                <a:gridCol w="886248">
                  <a:extLst>
                    <a:ext uri="{9D8B030D-6E8A-4147-A177-3AD203B41FA5}">
                      <a16:colId xmlns:a16="http://schemas.microsoft.com/office/drawing/2014/main" val="208583453"/>
                    </a:ext>
                  </a:extLst>
                </a:gridCol>
                <a:gridCol w="848194">
                  <a:extLst>
                    <a:ext uri="{9D8B030D-6E8A-4147-A177-3AD203B41FA5}">
                      <a16:colId xmlns:a16="http://schemas.microsoft.com/office/drawing/2014/main" val="191505781"/>
                    </a:ext>
                  </a:extLst>
                </a:gridCol>
                <a:gridCol w="700204">
                  <a:extLst>
                    <a:ext uri="{9D8B030D-6E8A-4147-A177-3AD203B41FA5}">
                      <a16:colId xmlns:a16="http://schemas.microsoft.com/office/drawing/2014/main" val="1504986291"/>
                    </a:ext>
                  </a:extLst>
                </a:gridCol>
                <a:gridCol w="729802">
                  <a:extLst>
                    <a:ext uri="{9D8B030D-6E8A-4147-A177-3AD203B41FA5}">
                      <a16:colId xmlns:a16="http://schemas.microsoft.com/office/drawing/2014/main" val="4019651412"/>
                    </a:ext>
                  </a:extLst>
                </a:gridCol>
                <a:gridCol w="1478207">
                  <a:extLst>
                    <a:ext uri="{9D8B030D-6E8A-4147-A177-3AD203B41FA5}">
                      <a16:colId xmlns:a16="http://schemas.microsoft.com/office/drawing/2014/main" val="2700873620"/>
                    </a:ext>
                  </a:extLst>
                </a:gridCol>
              </a:tblGrid>
              <a:tr h="6986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Tier</a:t>
                      </a:r>
                    </a:p>
                  </a:txBody>
                  <a:tcPr marL="59480" marR="59480" marT="29740" marB="297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Threshold</a:t>
                      </a:r>
                    </a:p>
                  </a:txBody>
                  <a:tcPr marL="59480" marR="59480" marT="29740" marB="297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Volume</a:t>
                      </a:r>
                    </a:p>
                  </a:txBody>
                  <a:tcPr marL="59480" marR="59480" marT="29740" marB="297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Fraud Caught</a:t>
                      </a:r>
                    </a:p>
                  </a:txBody>
                  <a:tcPr marL="59480" marR="59480" marT="29740" marB="297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Fraud Rate</a:t>
                      </a:r>
                    </a:p>
                  </a:txBody>
                  <a:tcPr marL="59480" marR="59480" marT="29740" marB="297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Action</a:t>
                      </a:r>
                    </a:p>
                  </a:txBody>
                  <a:tcPr marL="59480" marR="59480" marT="29740" marB="29740" anchor="ctr"/>
                </a:tc>
                <a:extLst>
                  <a:ext uri="{0D108BD9-81ED-4DB2-BD59-A6C34878D82A}">
                    <a16:rowId xmlns:a16="http://schemas.microsoft.com/office/drawing/2014/main" val="1267753289"/>
                  </a:ext>
                </a:extLst>
              </a:tr>
              <a:tr h="6986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Tier 1 — Auto Block</a:t>
                      </a:r>
                    </a:p>
                  </a:txBody>
                  <a:tcPr marL="59480" marR="59480" marT="29740" marB="297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Score &gt; 0.8</a:t>
                      </a:r>
                    </a:p>
                  </a:txBody>
                  <a:tcPr marL="59480" marR="59480" marT="29740" marB="297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~56,600</a:t>
                      </a:r>
                    </a:p>
                  </a:txBody>
                  <a:tcPr marL="59480" marR="59480" marT="29740" marB="297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~4,900</a:t>
                      </a:r>
                    </a:p>
                  </a:txBody>
                  <a:tcPr marL="59480" marR="59480" marT="29740" marB="297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~8.7%</a:t>
                      </a:r>
                    </a:p>
                  </a:txBody>
                  <a:tcPr marL="59480" marR="59480" marT="29740" marB="297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Block immediately. No review needed.</a:t>
                      </a:r>
                    </a:p>
                  </a:txBody>
                  <a:tcPr marL="59480" marR="59480" marT="29740" marB="29740" anchor="ctr"/>
                </a:tc>
                <a:extLst>
                  <a:ext uri="{0D108BD9-81ED-4DB2-BD59-A6C34878D82A}">
                    <a16:rowId xmlns:a16="http://schemas.microsoft.com/office/drawing/2014/main" val="2426826434"/>
                  </a:ext>
                </a:extLst>
              </a:tr>
              <a:tr h="969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Tier 2 — Investigate</a:t>
                      </a:r>
                    </a:p>
                  </a:txBody>
                  <a:tcPr marL="59480" marR="59480" marT="29740" marB="297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Score 0.5–0.8</a:t>
                      </a:r>
                    </a:p>
                  </a:txBody>
                  <a:tcPr marL="59480" marR="59480" marT="29740" marB="297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~364,500</a:t>
                      </a:r>
                    </a:p>
                  </a:txBody>
                  <a:tcPr marL="59480" marR="59480" marT="29740" marB="297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~7,500</a:t>
                      </a:r>
                    </a:p>
                  </a:txBody>
                  <a:tcPr marL="59480" marR="59480" marT="29740" marB="297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~2.1%</a:t>
                      </a:r>
                    </a:p>
                  </a:txBody>
                  <a:tcPr marL="59480" marR="59480" marT="29740" marB="297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Queue for investigator review within 24h.</a:t>
                      </a:r>
                    </a:p>
                  </a:txBody>
                  <a:tcPr marL="59480" marR="59480" marT="29740" marB="29740" anchor="ctr"/>
                </a:tc>
                <a:extLst>
                  <a:ext uri="{0D108BD9-81ED-4DB2-BD59-A6C34878D82A}">
                    <a16:rowId xmlns:a16="http://schemas.microsoft.com/office/drawing/2014/main" val="772353911"/>
                  </a:ext>
                </a:extLst>
              </a:tr>
              <a:tr h="969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Tier 3 — Monitor</a:t>
                      </a:r>
                    </a:p>
                  </a:txBody>
                  <a:tcPr marL="59480" marR="59480" marT="29740" marB="297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Score &lt; 0.5</a:t>
                      </a:r>
                    </a:p>
                  </a:txBody>
                  <a:tcPr marL="59480" marR="59480" marT="29740" marB="297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~12.88M</a:t>
                      </a:r>
                    </a:p>
                  </a:txBody>
                  <a:tcPr marL="59480" marR="59480" marT="29740" marB="297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~900</a:t>
                      </a:r>
                    </a:p>
                  </a:txBody>
                  <a:tcPr marL="59480" marR="59480" marT="29740" marB="297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~0.01%</a:t>
                      </a:r>
                    </a:p>
                  </a:txBody>
                  <a:tcPr marL="59480" marR="59480" marT="29740" marB="297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Proceed normally. Passive monitoring only.</a:t>
                      </a:r>
                    </a:p>
                  </a:txBody>
                  <a:tcPr marL="59480" marR="59480" marT="29740" marB="29740" anchor="ctr"/>
                </a:tc>
                <a:extLst>
                  <a:ext uri="{0D108BD9-81ED-4DB2-BD59-A6C34878D82A}">
                    <a16:rowId xmlns:a16="http://schemas.microsoft.com/office/drawing/2014/main" val="3924039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13524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9D9B07-D7DE-2B1F-7A5F-8F25A4623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91516C-303F-6A2B-3646-52425CE74C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6834" y="591344"/>
            <a:ext cx="3200400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Insights &amp; Challenges</a:t>
            </a: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497B80-8405-0720-FD4A-C5CC45ED86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b="1"/>
              <a:t>Key Insights:</a:t>
            </a:r>
            <a:endParaRPr lang="en-US" sz="220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b="1"/>
              <a:t>93.5% of fraud caught</a:t>
            </a:r>
            <a:r>
              <a:rPr lang="en-US" sz="2200"/>
              <a:t> — geographic location predicts fraud more than transaction amount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b="1"/>
              <a:t>35% of customers disengaging quietly</a:t>
            </a:r>
            <a:r>
              <a:rPr lang="en-US" sz="2200"/>
              <a:t> — no financial stress, just inactive — retention window still open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/>
              <a:t> </a:t>
            </a:r>
            <a:r>
              <a:rPr lang="en-US" sz="2200" b="1"/>
              <a:t>42% financially stressed</a:t>
            </a:r>
            <a:r>
              <a:rPr lang="en-US" sz="2200"/>
              <a:t> — high activity, high Insufficient Balance errors — intervention opportunity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b="1"/>
              <a:t>Challenges &amp; Lessons:</a:t>
            </a:r>
            <a:endParaRPr lang="en-US" sz="220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/>
              <a:t>Five churn methodologies exhausted — no viable label </a:t>
            </a:r>
            <a:r>
              <a:rPr lang="en-US" sz="2200" i="1"/>
              <a:t>Data dictates the approach. When it says no, pivot</a:t>
            </a:r>
            <a:endParaRPr lang="en-US" sz="220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/>
              <a:t>13M rows hit cluster limits — IF required a 10% sample </a:t>
            </a:r>
            <a:r>
              <a:rPr lang="en-US" sz="2200" i="1"/>
              <a:t>Sampling is a legitimate engineering response at scale</a:t>
            </a:r>
            <a:endParaRPr lang="en-US" sz="220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6107540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410861-5E3C-9848-24B7-DD1CFD0E7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521BE0-A3B1-01C6-7C6B-949E2CAAD5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Future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03E3FB-677E-36E3-6109-2B73D07F64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/>
              <a:t> </a:t>
            </a:r>
            <a:r>
              <a:rPr lang="en-US" b="1"/>
              <a:t>Full ML Automation</a:t>
            </a:r>
            <a:r>
              <a:rPr lang="en-US"/>
              <a:t> Add Databricks notebook activities to ADF orchestration for fully automated model retraining on a schedule.</a:t>
            </a:r>
          </a:p>
          <a:p>
            <a:pPr algn="l"/>
            <a:r>
              <a:rPr lang="en-US" b="1"/>
              <a:t>Real-Time Fraud Detection</a:t>
            </a:r>
            <a:r>
              <a:rPr lang="en-US"/>
              <a:t> Replace batch processing with Azure Event Hubs for live transaction scoring — block fraud before it completes.</a:t>
            </a:r>
          </a:p>
          <a:p>
            <a:pPr algn="l"/>
            <a:r>
              <a:rPr lang="en-US"/>
              <a:t> </a:t>
            </a:r>
            <a:r>
              <a:rPr lang="en-US" b="1"/>
              <a:t>Velocity Features</a:t>
            </a:r>
            <a:r>
              <a:rPr lang="en-US"/>
              <a:t> Add transactions-per-hour and per-day features for real-time fraud patterns batch models miss.</a:t>
            </a:r>
          </a:p>
          <a:p>
            <a:pPr algn="l"/>
            <a:r>
              <a:rPr lang="en-US" b="1"/>
              <a:t>Customer Lifetime Value</a:t>
            </a:r>
            <a:r>
              <a:rPr lang="en-US"/>
              <a:t> Build a third ML component predicting lifetime value — </a:t>
            </a:r>
            <a:r>
              <a:rPr lang="en-US" err="1"/>
              <a:t>prioritise</a:t>
            </a:r>
            <a:r>
              <a:rPr lang="en-US"/>
              <a:t> retention by revenue impact, not just inactivity.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0620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EAD8BF-DD28-CFB6-A80D-C7EE6610F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EXECUTIVE SUMMARY ANALYSIS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0A8E13D5-C852-60D9-0E0A-AAD79DB23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256" y="858525"/>
            <a:ext cx="7472268" cy="521190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2217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34172-62B4-39D3-8CFC-C223E5AD7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B49BA-611C-6A1F-EB37-3AABB7358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98"/>
            <a:ext cx="10515600" cy="899360"/>
          </a:xfrm>
        </p:spPr>
        <p:txBody>
          <a:bodyPr/>
          <a:lstStyle/>
          <a:p>
            <a:r>
              <a:rPr lang="en-US"/>
              <a:t>OPERATIONS ANALYSIS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0326248-96B1-6997-D30D-8C86EA3D2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262" y="736169"/>
            <a:ext cx="11113477" cy="612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571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80E4E-89DA-58EC-F623-C73E13076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BD63E-3DB2-AC19-24AE-A07F83544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396"/>
            <a:ext cx="10515600" cy="666886"/>
          </a:xfrm>
        </p:spPr>
        <p:txBody>
          <a:bodyPr>
            <a:normAutofit fontScale="90000"/>
          </a:bodyPr>
          <a:lstStyle/>
          <a:p>
            <a:r>
              <a:rPr lang="en-US"/>
              <a:t>CUSTOMER &amp; RETENTION ANALYSIS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1C2A21-0310-E06B-1A5F-9D3809978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500" y="1239864"/>
            <a:ext cx="11511000" cy="561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3665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70175-F80C-9E1E-7DDA-A4E75C9C7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388E1-22E8-411F-05AE-EC32C4A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2650"/>
            <a:ext cx="10515600" cy="692716"/>
          </a:xfrm>
        </p:spPr>
        <p:txBody>
          <a:bodyPr>
            <a:normAutofit fontScale="90000"/>
          </a:bodyPr>
          <a:lstStyle/>
          <a:p>
            <a:r>
              <a:rPr lang="en-US"/>
              <a:t>RISK &amp; CHURN ANALYSIS</a:t>
            </a:r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2D9435B-DCF6-F9F4-5915-C173CD2F9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1" y="1473065"/>
            <a:ext cx="12133397" cy="537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2401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5716D-E8F6-DEBF-81A4-36BA0F7DB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771C7-A357-FE9A-F4C8-156E7DD3B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476"/>
            <a:ext cx="10515600" cy="398807"/>
          </a:xfrm>
        </p:spPr>
        <p:txBody>
          <a:bodyPr>
            <a:normAutofit fontScale="90000"/>
          </a:bodyPr>
          <a:lstStyle/>
          <a:p>
            <a:r>
              <a:rPr lang="en-US"/>
              <a:t>FRAUD ANALYSIS</a:t>
            </a: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32317AD2-686A-3F0D-938B-621FF32B4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85" y="1149457"/>
            <a:ext cx="11842230" cy="570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6351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AF7AD2-7FE6-0F9A-EA9C-5BF67B788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CUSTOMER SEGMENTATION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914F107-EFB5-56D5-963A-384FD6E69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38" y="1105904"/>
            <a:ext cx="7808830" cy="494173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2925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5B6F90-DC8C-9595-6AF5-72460C5AD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9F9404-04E3-937D-6D1D-64EEC4312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000" kern="1200">
                <a:latin typeface="+mj-lt"/>
                <a:ea typeface="+mj-ea"/>
                <a:cs typeface="+mj-cs"/>
              </a:rPr>
              <a:t>FRAUD RISK &amp; DETECTION</a:t>
            </a:r>
            <a:endParaRPr lang="en-US" sz="3000" kern="1200"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4CA465CF-16FB-BF7E-9351-8AC51CFAD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38" y="1086883"/>
            <a:ext cx="7832893" cy="515624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6844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E1DE0-409D-1883-E3A7-6F41412FF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5490971"/>
            <a:ext cx="6962072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FINANCIAL ANALYTICS DASHBOARD</a:t>
            </a:r>
          </a:p>
        </p:txBody>
      </p:sp>
      <p:pic>
        <p:nvPicPr>
          <p:cNvPr id="3" name="Picture 2" descr="A screenshot of a data analysis dashboard&#10;&#10;AI-generated content may be incorrect.">
            <a:extLst>
              <a:ext uri="{FF2B5EF4-FFF2-40B4-BE49-F238E27FC236}">
                <a16:creationId xmlns:a16="http://schemas.microsoft.com/office/drawing/2014/main" id="{C6B9D9E1-A87B-11F8-DC14-D27796511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98" y="213520"/>
            <a:ext cx="11403361" cy="507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5975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2D004-A018-00EA-E567-F1A8E3233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300" b="1">
                <a:ea typeface="+mn-lt"/>
                <a:cs typeface="+mn-lt"/>
              </a:rPr>
              <a:t>As a group</a:t>
            </a:r>
            <a:r>
              <a:rPr lang="en-US" sz="1300">
                <a:ea typeface="+mn-lt"/>
                <a:cs typeface="+mn-lt"/>
              </a:rPr>
              <a:t> we did the Azure project setup — provisioned all four services (ADLS Gen2, ADF, Databricks, Synapse), Data dictionary and star schema design</a:t>
            </a:r>
            <a:endParaRPr lang="en-US" sz="1300"/>
          </a:p>
          <a:p>
            <a:pPr marL="0" indent="0">
              <a:buNone/>
            </a:pPr>
            <a:r>
              <a:rPr lang="en-US" sz="1300" b="1" err="1"/>
              <a:t>Ujunwa</a:t>
            </a:r>
          </a:p>
          <a:p>
            <a:r>
              <a:rPr lang="en-US" sz="1300">
                <a:ea typeface="+mn-lt"/>
                <a:cs typeface="+mn-lt"/>
              </a:rPr>
              <a:t>Databricks to ADLS connection setup</a:t>
            </a:r>
            <a:endParaRPr lang="en-US" sz="1300"/>
          </a:p>
          <a:p>
            <a:r>
              <a:rPr lang="en-US" sz="1300">
                <a:ea typeface="+mn-lt"/>
                <a:cs typeface="+mn-lt"/>
              </a:rPr>
              <a:t>EDA notebook (22 investigations)</a:t>
            </a:r>
            <a:endParaRPr lang="en-US" sz="1300"/>
          </a:p>
          <a:p>
            <a:r>
              <a:rPr lang="en-US" sz="1300">
                <a:ea typeface="+mn-lt"/>
                <a:cs typeface="+mn-lt"/>
              </a:rPr>
              <a:t>Data cleaning notebook</a:t>
            </a:r>
            <a:endParaRPr lang="en-US" sz="1300"/>
          </a:p>
          <a:p>
            <a:r>
              <a:rPr lang="en-US" sz="1300">
                <a:ea typeface="+mn-lt"/>
                <a:cs typeface="+mn-lt"/>
              </a:rPr>
              <a:t>Non-ML Synapse views</a:t>
            </a:r>
            <a:endParaRPr lang="en-US" sz="1300"/>
          </a:p>
          <a:p>
            <a:pPr marL="0" indent="0">
              <a:buNone/>
            </a:pPr>
            <a:r>
              <a:rPr lang="en-US" sz="1300" b="1">
                <a:ea typeface="+mn-lt"/>
                <a:cs typeface="+mn-lt"/>
              </a:rPr>
              <a:t>Salami</a:t>
            </a:r>
            <a:endParaRPr lang="en-US" sz="1300"/>
          </a:p>
          <a:p>
            <a:r>
              <a:rPr lang="en-US" sz="1300">
                <a:ea typeface="+mn-lt"/>
                <a:cs typeface="+mn-lt"/>
              </a:rPr>
              <a:t>ADF pipeline — 10 datasets and </a:t>
            </a:r>
            <a:r>
              <a:rPr lang="en-US" sz="1300" err="1">
                <a:ea typeface="+mn-lt"/>
                <a:cs typeface="+mn-lt"/>
              </a:rPr>
              <a:t>pl_ingest_github_to_raw</a:t>
            </a:r>
            <a:endParaRPr lang="en-US" sz="1300" err="1"/>
          </a:p>
          <a:p>
            <a:r>
              <a:rPr lang="en-US" sz="1300">
                <a:ea typeface="+mn-lt"/>
                <a:cs typeface="+mn-lt"/>
              </a:rPr>
              <a:t>Extended ADF pipeline with Databricks notebook activities</a:t>
            </a:r>
            <a:endParaRPr lang="en-US" sz="1300"/>
          </a:p>
          <a:p>
            <a:r>
              <a:rPr lang="en-US" sz="1300">
                <a:ea typeface="+mn-lt"/>
                <a:cs typeface="+mn-lt"/>
              </a:rPr>
              <a:t>Star schema notebook</a:t>
            </a:r>
            <a:endParaRPr lang="en-US" sz="1300"/>
          </a:p>
          <a:p>
            <a:r>
              <a:rPr lang="en-US" sz="1300">
                <a:ea typeface="+mn-lt"/>
                <a:cs typeface="+mn-lt"/>
              </a:rPr>
              <a:t>Executive summary, operations, fraud, customer &amp; retention, financial transactions analysis Power BI dashboards</a:t>
            </a:r>
            <a:br>
              <a:rPr lang="en-US" sz="1300">
                <a:ea typeface="+mn-lt"/>
                <a:cs typeface="+mn-lt"/>
              </a:rPr>
            </a:br>
            <a:endParaRPr lang="en-US" sz="13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300" b="1">
                <a:ea typeface="+mn-lt"/>
                <a:cs typeface="+mn-lt"/>
              </a:rPr>
              <a:t>Natasha</a:t>
            </a:r>
            <a:endParaRPr lang="en-US" sz="1300" b="1"/>
          </a:p>
          <a:p>
            <a:r>
              <a:rPr lang="en-US" sz="1300">
                <a:ea typeface="+mn-lt"/>
                <a:cs typeface="+mn-lt"/>
              </a:rPr>
              <a:t>Feature engineering notebook</a:t>
            </a:r>
            <a:endParaRPr lang="en-US" sz="1300"/>
          </a:p>
          <a:p>
            <a:r>
              <a:rPr lang="en-US" sz="1300">
                <a:ea typeface="+mn-lt"/>
                <a:cs typeface="+mn-lt"/>
              </a:rPr>
              <a:t>ML modelling — customer segmentation and fraud detection</a:t>
            </a:r>
            <a:endParaRPr lang="en-US" sz="1300"/>
          </a:p>
          <a:p>
            <a:r>
              <a:rPr lang="en-US" sz="1300">
                <a:ea typeface="+mn-lt"/>
                <a:cs typeface="+mn-lt"/>
              </a:rPr>
              <a:t>Synapse external tables and ML-dependent views</a:t>
            </a:r>
            <a:endParaRPr lang="en-US" sz="1300"/>
          </a:p>
          <a:p>
            <a:r>
              <a:rPr lang="en-US" sz="1300">
                <a:ea typeface="+mn-lt"/>
                <a:cs typeface="+mn-lt"/>
              </a:rPr>
              <a:t>Fraud Risk &amp; Detection and Customer Segmentation Power BI pages</a:t>
            </a:r>
            <a:endParaRPr lang="en-US" sz="1300"/>
          </a:p>
          <a:p>
            <a:endParaRPr lang="en-US" sz="13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C2E863-922A-9372-8473-461BFFB88550}"/>
              </a:ext>
            </a:extLst>
          </p:cNvPr>
          <p:cNvSpPr txBox="1"/>
          <p:nvPr/>
        </p:nvSpPr>
        <p:spPr>
          <a:xfrm>
            <a:off x="266633" y="2223797"/>
            <a:ext cx="3637219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>
                <a:solidFill>
                  <a:schemeClr val="bg1"/>
                </a:solidFill>
                <a:ea typeface="+mn-lt"/>
                <a:cs typeface="+mn-lt"/>
              </a:rPr>
              <a:t>Team Contributions</a:t>
            </a:r>
            <a:endParaRPr lang="en-US" sz="4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99036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DC6470-D221-90ED-D5F2-EEE5EFD20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D8B2B1-67F8-CEF1-4928-229273829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>
                <a:solidFill>
                  <a:schemeClr val="tx2"/>
                </a:solidFill>
              </a:rPr>
              <a:t>Thank you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EFC6779A-DF51-3CD8-7340-82946A26BA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73792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32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End-to-End Cloud Financial Data Pipeline on Microsoft Azure</vt:lpstr>
      <vt:lpstr>The Problem</vt:lpstr>
      <vt:lpstr>The Dataset</vt:lpstr>
      <vt:lpstr>What We Set Out to Answer</vt:lpstr>
      <vt:lpstr>Why Microsoft Azure?</vt:lpstr>
      <vt:lpstr>Architecture Diagram</vt:lpstr>
      <vt:lpstr>Medallion Architecture</vt:lpstr>
      <vt:lpstr>Data Ingestion </vt:lpstr>
      <vt:lpstr>Exploratory Data Analysis — What We Found First</vt:lpstr>
      <vt:lpstr>Exploratory Data Analysis — What We Found First</vt:lpstr>
      <vt:lpstr>Key Insights from Exploratory Data Analysis</vt:lpstr>
      <vt:lpstr>Data Cleaning</vt:lpstr>
      <vt:lpstr>Feature Engineering </vt:lpstr>
      <vt:lpstr>Data Modeling (Star Schema)</vt:lpstr>
      <vt:lpstr>Orchestration- One Trigger, End-to-end </vt:lpstr>
      <vt:lpstr>Data Storage (Warehouse)</vt:lpstr>
      <vt:lpstr>Data Analysis</vt:lpstr>
      <vt:lpstr>ML Component 1: Customer Segmentation</vt:lpstr>
      <vt:lpstr>ML Component 2: Fraud Detection</vt:lpstr>
      <vt:lpstr>Layered Fraud Detection</vt:lpstr>
      <vt:lpstr>Insights &amp; Challenges</vt:lpstr>
      <vt:lpstr>Future Work</vt:lpstr>
      <vt:lpstr>EXECUTIVE SUMMARY ANALYSIS</vt:lpstr>
      <vt:lpstr>OPERATIONS ANALYSIS</vt:lpstr>
      <vt:lpstr>CUSTOMER &amp; RETENTION ANALYSIS</vt:lpstr>
      <vt:lpstr>RISK &amp; CHURN ANALYSIS</vt:lpstr>
      <vt:lpstr>FRAUD ANALYSIS</vt:lpstr>
      <vt:lpstr>CUSTOMER SEGMENTATION</vt:lpstr>
      <vt:lpstr>FRAUD RISK &amp; DETECTION</vt:lpstr>
      <vt:lpstr>FINANCIAL ANALYTICS DASHBOARD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7</cp:revision>
  <dcterms:created xsi:type="dcterms:W3CDTF">2026-04-11T11:56:44Z</dcterms:created>
  <dcterms:modified xsi:type="dcterms:W3CDTF">2026-04-17T16:24:56Z</dcterms:modified>
</cp:coreProperties>
</file>